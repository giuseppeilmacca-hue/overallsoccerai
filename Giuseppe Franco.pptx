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70" r:id="rId5"/>
    <p:sldId id="258" r:id="rId6"/>
    <p:sldId id="259" r:id="rId7"/>
    <p:sldId id="260" r:id="rId8"/>
    <p:sldId id="265" r:id="rId9"/>
    <p:sldId id="261" r:id="rId10"/>
    <p:sldId id="262" r:id="rId11"/>
    <p:sldId id="263" r:id="rId12"/>
    <p:sldId id="264" r:id="rId13"/>
    <p:sldId id="27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3717925"/>
            <a:ext cx="10943167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4940300"/>
            <a:ext cx="10949517" cy="981075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  <a:sym typeface="+mn-ea"/>
              </a:rPr>
              <a:t>Technical Schedule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911561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sp>
        <p:nvSpPr>
          <p:cNvPr id="5" name="Rectangles 4"/>
          <p:cNvSpPr/>
          <p:nvPr/>
        </p:nvSpPr>
        <p:spPr>
          <a:xfrm>
            <a:off x="1447800" y="2829560"/>
            <a:ext cx="9295765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Giuseppe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Macca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Analytics Algorithms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p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                          </a:t>
            </a:r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Technical Schedule</a:t>
            </a:r>
            <a:endParaRPr lang="it-IT" altLang="en-US">
              <a:ln w="12700">
                <a:solidFill>
                  <a:schemeClr val="accent1"/>
                </a:solidFill>
                <a:prstDash val="solid"/>
              </a:ln>
              <a:solidFill>
                <a:srgbClr val="FF0000"/>
              </a:solid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0972800" cy="5427980"/>
          </a:xfrm>
        </p:spPr>
        <p:txBody>
          <a:bodyPr/>
          <a:p>
            <a:pPr marL="0" indent="0">
              <a:buNone/>
            </a:pPr>
            <a:r>
              <a:rPr lang="it-IT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Name:           Giuseppe Franco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Citizenship:   Germania-Italia         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born:              28/04/2006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Position:       Difesa - Terzino sinistro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Foot:             sinistro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H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eight:          182 CM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Club:             Kickers Offenbach II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7" name="Content Placeholder 6" descr="91156155 (2)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SEASON HEATMAP</a:t>
            </a:r>
            <a:endParaRPr lang="it-IT" altLang="en-US"/>
          </a:p>
        </p:txBody>
      </p:sp>
      <p:sp>
        <p:nvSpPr>
          <p:cNvPr id="7" name="Content Placeholder 6"/>
          <p:cNvSpPr/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3" name="Picture 2" descr="WhatsApp Image 2025-10-08 at 18.44.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848360"/>
            <a:ext cx="10973435" cy="5882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Content Placeholder 3"/>
          <p:cNvGraphicFramePr/>
          <p:nvPr>
            <p:ph sz="half" idx="1"/>
          </p:nvPr>
        </p:nvGraphicFramePr>
        <p:xfrm>
          <a:off x="762000" y="1155700"/>
          <a:ext cx="10605770" cy="3486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2885"/>
                <a:gridCol w="5302885"/>
              </a:tblGrid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PHYSICAL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Acceleration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70</a:t>
                      </a:r>
                      <a:endParaRPr lang="it-IT" alt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Agility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70</a:t>
                      </a:r>
                      <a:endParaRPr lang="it-IT" alt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Balance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40</a:t>
                      </a:r>
                      <a:endParaRPr lang="it-IT" alt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Jumping Reach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40</a:t>
                      </a:r>
                      <a:endParaRPr lang="it-IT" alt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Natural Fitness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65</a:t>
                      </a:r>
                      <a:endParaRPr lang="it-IT" alt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Pace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70</a:t>
                      </a:r>
                      <a:endParaRPr lang="it-IT" alt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Stamina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30</a:t>
                      </a:r>
                      <a:endParaRPr lang="it-IT" alt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Strength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35</a:t>
                      </a:r>
                      <a:endParaRPr lang="it-IT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Content Placeholder 5" descr="91156155 (2)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graphicFrame>
        <p:nvGraphicFramePr>
          <p:cNvPr id="5" name="Content Placeholder 4"/>
          <p:cNvGraphicFramePr/>
          <p:nvPr>
            <p:ph sz="half" idx="1"/>
          </p:nvPr>
        </p:nvGraphicFramePr>
        <p:xfrm>
          <a:off x="609600" y="184150"/>
          <a:ext cx="10972800" cy="5667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240"/>
                <a:gridCol w="5496560"/>
              </a:tblGrid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MENTAL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Aggression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40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Anticipation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35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Bravery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45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Composure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40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Concentration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40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Decisions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65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Determination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60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Flair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25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Leadership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45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Off the Ball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15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Positioning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45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Teamwork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40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Vision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40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Work Rate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40</a:t>
                      </a:r>
                      <a:endParaRPr lang="it-IT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19410" y="1174750"/>
            <a:ext cx="1062990" cy="4953000"/>
          </a:xfrm>
        </p:spPr>
        <p:txBody>
          <a:bodyPr/>
          <a:p>
            <a:pPr marL="0" indent="0">
              <a:buNone/>
            </a:pPr>
            <a:r>
              <a:rPr lang="it-IT" altLang="en-US"/>
              <a:t> 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graphicFrame>
        <p:nvGraphicFramePr>
          <p:cNvPr id="5" name="Content Placeholder 4"/>
          <p:cNvGraphicFramePr/>
          <p:nvPr>
            <p:ph sz="half" idx="1"/>
          </p:nvPr>
        </p:nvGraphicFramePr>
        <p:xfrm>
          <a:off x="609600" y="317500"/>
          <a:ext cx="10906760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380"/>
                <a:gridCol w="545338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TECHNICAL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Corners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30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Crossing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Dribbling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25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Finishing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10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First Touch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Free Kick Taking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10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Heading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Long Shots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20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Long Throws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35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Marking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Passing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Penalty Taking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Tackling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Technique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5945" y="1174750"/>
            <a:ext cx="2116455" cy="4953000"/>
          </a:xfrm>
        </p:spPr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rgbClr val="FF0000"/>
                </a:solidFill>
              </a:rPr>
              <a:t>INJURY HISTORY</a:t>
            </a:r>
            <a:r>
              <a:rPr lang="it-IT" altLang="en-US" b="1">
                <a:solidFill>
                  <a:srgbClr val="FF0000"/>
                </a:solidFill>
              </a:rPr>
              <a:t> and RISK INJURIES</a:t>
            </a:r>
            <a:endParaRPr lang="it-IT" altLang="en-US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906125" cy="4953000"/>
          </a:xfrm>
        </p:spPr>
        <p:txBody>
          <a:bodyPr/>
          <a:p>
            <a:pPr marL="0" indent="0">
              <a:buNone/>
            </a:pPr>
            <a:r>
              <a:rPr lang="it-IT" altLang="en-US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Storico infortuni: nessun infortunio rilevante registrato</a:t>
            </a:r>
            <a:endParaRPr lang="it-IT" altLang="en-US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Rischio stimato di infortunio: basso (≈10%).</a:t>
            </a:r>
            <a:endParaRPr lang="it-IT" altLang="en-US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% partite saltate per infortunio negli ultimi 5 anni: &lt;3%.</a:t>
            </a:r>
            <a:endParaRPr lang="it-IT" altLang="en-US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 il solo stop registrato è una squalifica per cartellino rosso (20/02/2023–02/04/2023), non un infortunio fisico. Il profilo risulta quindi molto affidabile dal punto di vista fisico.</a:t>
            </a:r>
            <a:endParaRPr lang="it-IT" altLang="en-US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6127115"/>
            <a:ext cx="969010" cy="7308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BEST ROLES (SUITABLE)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148570" cy="4953000"/>
          </a:xfrm>
        </p:spPr>
        <p:txBody>
          <a:bodyPr/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No-Nonsense Full-back (Defend)46.9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Full-back (Attack)46.9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Wing-back (Defend)46.2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Complete Wing-Back (Attack)46.2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Wing-back (Support)45.9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32535"/>
            <a:ext cx="10732135" cy="4895215"/>
          </a:xfrm>
        </p:spPr>
        <p:txBody>
          <a:bodyPr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STATUS ABILITY GLOBAL 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    </a:t>
            </a: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47 / 100</a:t>
            </a: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OVERALL PREVIEW 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 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b="1" i="0" u="none" strike="noStrike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68 / 100</a:t>
            </a:r>
            <a:endParaRPr kumimoji="0" lang="en-US" b="1" i="0" u="none" strike="noStrike" kern="1200" cap="none" spc="0" normalizeH="0" baseline="0" noProof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The parameters indicate that it is similar to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695305" cy="4953000"/>
          </a:xfrm>
        </p:spPr>
        <p:txBody>
          <a:bodyPr/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Bruno Scandella         WBL                        Godoy Cruz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Filip Šindler                 WBL, ML                   Příbram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Marcus Paulsen           DL, WBL, AML         Lillestrøm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1097260" cy="4953000"/>
          </a:xfrm>
        </p:spPr>
        <p:txBody>
          <a:bodyPr/>
          <a:p>
            <a:pPr marL="0" indent="0" fontAlgn="base">
              <a:buNone/>
            </a:pPr>
            <a:r>
              <a:rPr lang="it-IT" altLang="en-US"/>
              <a:t> </a:t>
            </a:r>
            <a:r>
              <a:rPr lang="en-US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current player value</a:t>
            </a:r>
            <a:r>
              <a:rPr lang="it-IT" altLang="en-US">
                <a:highlight>
                  <a:srgbClr val="00FFFF"/>
                </a:highlight>
                <a:sym typeface="+mn-ea"/>
              </a:rPr>
              <a:t> </a:t>
            </a:r>
            <a:endParaRPr lang="it-IT" altLang="en-US" strike="noStrike" noProof="1">
              <a:highlight>
                <a:srgbClr val="00FFFF"/>
              </a:highlight>
            </a:endParaRPr>
          </a:p>
          <a:p>
            <a:pPr marL="0" indent="0" fontAlgn="base">
              <a:buNone/>
            </a:pPr>
            <a:r>
              <a:rPr lang="it-IT" altLang="en-US">
                <a:sym typeface="+mn-ea"/>
              </a:rPr>
              <a:t> </a:t>
            </a:r>
            <a:r>
              <a:rPr lang="it-IT" altLang="en-US" strike="noStrike" noProof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75.000 – 100.000 €</a:t>
            </a:r>
            <a:endParaRPr lang="it-IT" altLang="en-US" strike="noStrike" noProof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endParaRPr lang="it-IT" altLang="en-US" strike="noStrike" noProof="1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r>
              <a:rPr lang="it-IT" altLang="en-US" b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potential future value</a:t>
            </a:r>
            <a:endParaRPr lang="it-IT" altLang="en-US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r>
              <a:rPr lang="it-IT" altLang="en-US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sym typeface="+mn-ea"/>
              </a:rPr>
              <a:t> </a:t>
            </a:r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700.000 – 900.000 €</a:t>
            </a:r>
            <a:endParaRPr lang="it-IT" altLang="en-US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endParaRPr lang="it-IT" altLang="en-US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r>
              <a:rPr lang="it-IT" altLang="en-US" sz="160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sym typeface="+mn-ea"/>
              </a:rPr>
              <a:t>Giovane classe 2006, con un profilo fisico e atletico già formato (182 cm, buon piede sinistro) ma ancora in fase di crescita tattica e tecnica. Gioca nella seconda squadra del Kickers Offenbach, realtà che forma spesso giocatori per il salto nei campionati professionistici tedeschi. I valori si allineano a quelli di giovani terzini in fase di transizione verso il professionismo</a:t>
            </a:r>
            <a:r>
              <a:rPr lang="it-IT" altLang="en-US" sz="160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.</a:t>
            </a:r>
            <a:endParaRPr lang="it-IT" altLang="en-US" sz="160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ext Box 4"/>
          <p:cNvSpPr txBox="1"/>
          <p:nvPr/>
        </p:nvSpPr>
        <p:spPr>
          <a:xfrm>
            <a:off x="612775" y="6481445"/>
            <a:ext cx="25152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fld id="{63A1C593-65D0-4073-BCC9-577B9352EA97}" type="datetime2">
              <a:rPr lang="en-US" smtClean="0"/>
            </a:fld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6660515" y="6481445"/>
            <a:ext cx="1897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it-IT" altLang="en-US">
                <a:effectLst>
                  <a:reflection blurRad="6350" stA="50000" endA="300" endPos="50000" dist="29997" dir="5400000" sy="-100000" algn="bl" rotWithShape="0"/>
                </a:effectLst>
                <a:latin typeface="Arial" panose="020B0604020202020204" pitchFamily="34" charset="0"/>
                <a:sym typeface="+mn-ea"/>
              </a:rPr>
              <a:t>Giuseppe Macca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>
                <a:solidFill>
                  <a:srgbClr val="FF0000"/>
                </a:solidFill>
              </a:rPr>
              <a:t>Final Consideration </a:t>
            </a:r>
            <a:endParaRPr lang="it-IT" altLang="en-US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0972800" cy="4962525"/>
          </a:xfrm>
        </p:spPr>
        <p:txBody>
          <a:bodyPr/>
          <a:p>
            <a:pPr marL="0" indent="0">
              <a:buNone/>
            </a:pPr>
            <a:r>
              <a:rPr lang="en-US" sz="1000" b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Migliora in sistemi che valorizzano la spinta esterna come 3-5-2 o 4-3-3, dove può interpretare il ruolo di terzino o esterno a tutta fascia.</a:t>
            </a:r>
            <a:endParaRPr 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endParaRPr 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sz="1000" b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Nelle fasi difensive può essere utilizzato anche in un 4-4-2 basso, con compiti di copertura e marcatura.</a:t>
            </a:r>
            <a:endParaRPr 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endParaRPr 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sz="1000" b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Ha un’impostazione più difensiva che offensiva, ma può adattarsi a ruoli dinamici se migliora nella gestione palla e nella precisione dei cross.</a:t>
            </a:r>
            <a:endParaRPr 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endParaRPr 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sz="1000" b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Risponde meglio a un allenatore formativo e strutturato, che lavori sul dettaglio tecnico e sulla disciplina tattica.</a:t>
            </a:r>
            <a:endParaRPr 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endParaRPr 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sz="1000" b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Necessita di una guida paziente e comunicativa, capace di farlo crescere senza pressioni eccessive, puntando su continuità e fiducia.</a:t>
            </a:r>
            <a:endParaRPr 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endParaRPr 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sz="1000" b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Può rendere al meglio con una leadership educativa e motivazionale, che valorizzi la dedizione e l’impegno quotidiano.</a:t>
            </a:r>
            <a:endParaRPr 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sz="1000" b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Regionalliga o 3. Liga tedesca: ideale per crescita fisica e tattica.</a:t>
            </a:r>
            <a:endParaRPr 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endParaRPr 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sz="1000" b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Campionati italiani o olandesi : per sviluppo tecnico e maggiore intensità.</a:t>
            </a:r>
            <a:endParaRPr 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endParaRPr 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sz="1000" b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Campionati scandinavi (Danimarca, Norvegia, Svezia): ottimi per acquisire esperienza e continuità in ambienti giovani e competitivi.</a:t>
            </a:r>
            <a:endParaRPr 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endParaRPr lang="en-US" sz="1000"/>
          </a:p>
          <a:p>
            <a:endParaRPr lang="en-US" sz="1000"/>
          </a:p>
          <a:p>
            <a:endParaRPr lang="en-US" sz="1000"/>
          </a:p>
          <a:p>
            <a:r>
              <a:rPr lang="en-US" sz="1000" b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Giuseppe Franco è un terzino sinistro di prospettiva, fisicamente pronto e disciplinato tatticamente, con ampi margini di miglioramento tecnico e di personalità.</a:t>
            </a:r>
            <a:endParaRPr 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sz="1000" b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Il suo profilo AI lo colloca oggi in una fase di formazione intermedia (status 47/100) ma con un potenziale di crescita fino a 68/100, che gli consentirebbe di affermarsi in campionati professionistici europei entro 2-3 anni se segue un percorso coerente di crescita e minuti giocati.</a:t>
            </a:r>
            <a:endParaRPr 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reen Color">
  <a:themeElements>
    <a:clrScheme name="Green Color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3684</Words>
  <Application>WPS Presentation</Application>
  <PresentationFormat>Widescreen</PresentationFormat>
  <Paragraphs>252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Arial</vt:lpstr>
      <vt:lpstr>SimSun</vt:lpstr>
      <vt:lpstr>Wingdings</vt:lpstr>
      <vt:lpstr>Microsoft YaHei</vt:lpstr>
      <vt:lpstr>Arial Unicode MS</vt:lpstr>
      <vt:lpstr>Calibri</vt:lpstr>
      <vt:lpstr>Green Color</vt:lpstr>
      <vt:lpstr>Technical Schedule</vt:lpstr>
      <vt:lpstr>                          Technical Schedule</vt:lpstr>
      <vt:lpstr>SEASON HEATMAP</vt:lpstr>
      <vt:lpstr>PowerPoint 演示文稿</vt:lpstr>
      <vt:lpstr> </vt:lpstr>
      <vt:lpstr> </vt:lpstr>
      <vt:lpstr>INJURY HISTORY and RISK INJURIES</vt:lpstr>
      <vt:lpstr>BEST ROLES (SUITABLE)</vt:lpstr>
      <vt:lpstr> </vt:lpstr>
      <vt:lpstr>The parameters indicate that it is similar to</vt:lpstr>
      <vt:lpstr> </vt:lpstr>
      <vt:lpstr>Final Consideration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Schedule</dc:title>
  <dc:creator/>
  <cp:lastModifiedBy>google1597316866</cp:lastModifiedBy>
  <cp:revision>22</cp:revision>
  <dcterms:created xsi:type="dcterms:W3CDTF">2023-06-04T10:59:00Z</dcterms:created>
  <dcterms:modified xsi:type="dcterms:W3CDTF">2025-10-08T16:58:33Z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60AC356AB9204BF2B919A4BB8AE7B43B</vt:lpwstr>
  </property>
  <property fmtid="{D5CDD505-2E9C-101B-9397-08002B2CF9AE}" pid="3" name="KSOProductBuildVer">
    <vt:lpwstr>1033-11.2.0.11486</vt:lpwstr>
  </property>
</Properties>
</file>