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  Lawrence Wong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Australia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Oct 6, 2007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Midfield - Attacking Midfield Left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left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1,80 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 Melbourne City FC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1205" y="931545"/>
            <a:ext cx="1051623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06221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1105"/>
                <a:gridCol w="5031105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288925"/>
          <a:ext cx="10273030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990"/>
                <a:gridCol w="5146040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851525"/>
            <a:ext cx="1238885" cy="100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269875"/>
          <a:ext cx="10273030" cy="553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6515"/>
                <a:gridCol w="5136515"/>
              </a:tblGrid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803265"/>
            <a:ext cx="1238885" cy="1054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71372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	</a:t>
            </a:r>
            <a:r>
              <a:rPr lang="it-IT" altLang="en-US" sz="2400"/>
              <a:t>Injury Risk (history + projection)</a:t>
            </a:r>
            <a:endParaRPr lang="it-IT" altLang="en-US" sz="2400"/>
          </a:p>
          <a:p>
            <a:pPr marL="0" indent="0">
              <a:buNone/>
            </a:pPr>
            <a:r>
              <a:rPr lang="it-IT" altLang="en-US" sz="2400"/>
              <a:t>Very low</a:t>
            </a:r>
            <a:endParaRPr lang="it-IT" altLang="en-US" sz="2400"/>
          </a:p>
          <a:p>
            <a:pPr marL="0" indent="0">
              <a:buNone/>
            </a:pPr>
            <a:endParaRPr lang="it-IT" altLang="en-US" sz="2400"/>
          </a:p>
          <a:p>
            <a:pPr marL="0" indent="0">
              <a:buNone/>
            </a:pPr>
            <a:r>
              <a:rPr lang="it-IT" altLang="en-US" sz="2400"/>
              <a:t>✅ History: no injuries recorded.</a:t>
            </a:r>
            <a:endParaRPr lang="it-IT" altLang="en-US" sz="2400"/>
          </a:p>
          <a:p>
            <a:pPr marL="0" indent="0">
              <a:buNone/>
            </a:pPr>
            <a:endParaRPr lang="it-IT" altLang="en-US" sz="2400"/>
          </a:p>
          <a:p>
            <a:pPr marL="0" indent="0">
              <a:buNone/>
            </a:pPr>
            <a:r>
              <a:rPr lang="it-IT" altLang="en-US" sz="2400"/>
              <a:t>✅ Age: young, therefore still developing but without excessive workloads.</a:t>
            </a:r>
            <a:endParaRPr lang="it-IT" altLang="en-US" sz="2400"/>
          </a:p>
          <a:p>
            <a:pPr marL="0" indent="0">
              <a:buNone/>
            </a:pPr>
            <a:endParaRPr lang="it-IT" altLang="en-US" sz="2400"/>
          </a:p>
          <a:p>
            <a:pPr marL="0" indent="0">
              <a:buNone/>
            </a:pPr>
            <a:r>
              <a:rPr lang="it-IT" altLang="en-US" sz="2400"/>
              <a:t>✅ No indicative online data of muscular or joint problems.</a:t>
            </a:r>
            <a:endParaRPr lang="it-IT" altLang="en-US" sz="2400"/>
          </a:p>
          <a:p>
            <a:pPr marL="0" indent="0">
              <a:buNone/>
            </a:pPr>
            <a:r>
              <a:rPr lang="it-IT" altLang="en-US" sz="2400"/>
              <a:t>Percentage of matches missed due to injury in the last 5 years: 0%</a:t>
            </a:r>
            <a:endParaRPr lang="it-IT" altLang="en-US" sz="2400"/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Playmaker (Support)58.8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Enganche (Support)58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Playmaker (Attack)57.7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Attacking Midfielder (Support)57.3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Attacking Midfielder (Attack)55.8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5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58/100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72/100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Tomás Dietz                  AMC                 Belgrano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Lautaro Mendieta         MC, AMC       Boca Juniors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Gonzalo Sosa               AMC              Racing Club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0500"/>
            <a:ext cx="11097260" cy="593725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€120,000 – €150,000</a:t>
            </a:r>
            <a:endParaRPr lang="it-IT" altLang="en-US"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endParaRPr lang="it-IT" altLang="en-US">
              <a:highlight>
                <a:srgbClr val="00FFFF"/>
              </a:highlight>
              <a:sym typeface="+mn-ea"/>
            </a:endParaRPr>
          </a:p>
          <a:p>
            <a:pPr marL="0" indent="0" fontAlgn="base">
              <a:buNone/>
            </a:pPr>
            <a:r>
              <a:rPr lang="it-IT" altLang="en-US" sz="20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Being a young Australian talent without a history in the first team or significant international experience, the value is in line with that of young prospects in Oceania or South America with similar characteristics.</a:t>
            </a:r>
            <a:endParaRPr lang="it-IT" altLang="en-US" sz="2000"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€2.5 – €3.5 million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sz="20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With growing potential, if his development continues and he finds playing time in the first team or youth national teams, he could be worth between €2.5 and €3.5 million within 3-4 years.</a:t>
            </a:r>
            <a:endParaRPr lang="it-IT" altLang="en-US" sz="20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  <p:pic>
        <p:nvPicPr>
          <p:cNvPr id="8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630" y="5517515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  <a:sym typeface="+mn-ea"/>
              </a:rPr>
              <a:t>Final Consideration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972165" cy="4953000"/>
          </a:xfrm>
        </p:spPr>
        <p:txBody>
          <a:bodyPr/>
          <a:p>
            <a:r>
              <a:rPr 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Ideal Playing System</a:t>
            </a:r>
            <a:endParaRPr lang="en-US" sz="1600"/>
          </a:p>
          <a:p>
            <a:r>
              <a:rPr lang="en-US" sz="1600"/>
              <a:t>4-2-3-1: as a central attacking midfielder (AMC) in the role of an advanced playmaker or enganche.</a:t>
            </a:r>
            <a:endParaRPr lang="en-US" sz="1600"/>
          </a:p>
          <a:p>
            <a:r>
              <a:rPr lang="en-US" sz="1600"/>
              <a:t>4-3-3 with a left offensive midfielder who moves inside the pitch (being left-footed).</a:t>
            </a:r>
            <a:endParaRPr lang="en-US" sz="1600"/>
          </a:p>
          <a:p>
            <a:r>
              <a:rPr lang="en-US" sz="1600"/>
              <a:t>3-4-2-1: one of the two attacking midfielders behind the striker.</a:t>
            </a:r>
            <a:endParaRPr lang="en-US" sz="1600"/>
          </a:p>
          <a:p>
            <a:endParaRPr lang="en-US" sz="1600"/>
          </a:p>
          <a:p>
            <a:r>
              <a:rPr lang="en-US" sz="1600"/>
              <a:t> </a:t>
            </a:r>
            <a:r>
              <a:rPr 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Ideal Coach Leadership</a:t>
            </a:r>
            <a:r>
              <a:rPr lang="it-IT" alt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:</a:t>
            </a:r>
            <a:endParaRPr lang="en-US" sz="16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r>
              <a:rPr lang="en-US" sz="1600"/>
              <a:t>Coach oriented towards technical development, with a focus on positional play and creative freedom.</a:t>
            </a:r>
            <a:endParaRPr lang="en-US" sz="1600"/>
          </a:p>
          <a:p>
            <a:r>
              <a:rPr lang="en-US" sz="1600"/>
              <a:t>Profile similar to that of South American or Spanish coaches who favor hybrid roles and attacking midfielders free to operate between the lines.</a:t>
            </a:r>
            <a:endParaRPr lang="en-US" sz="1600"/>
          </a:p>
          <a:p>
            <a:r>
              <a:rPr lang="en-US" sz="1600"/>
              <a:t>"Mentor" coach, capable of empowering him without overwhelming him.</a:t>
            </a:r>
            <a:endParaRPr lang="en-US" sz="1600"/>
          </a:p>
          <a:p>
            <a:endParaRPr lang="en-US" sz="1600"/>
          </a:p>
          <a:p>
            <a:r>
              <a:rPr 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Ideal Leagues for Development</a:t>
            </a:r>
            <a:r>
              <a:rPr lang="it-IT" altLang="en-US" sz="1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:</a:t>
            </a:r>
            <a:endParaRPr lang="en-US" sz="1600"/>
          </a:p>
          <a:p>
            <a:r>
              <a:rPr lang="en-US" sz="1600"/>
              <a:t>Eredivisie (Netherlands): values technical, offensive, and young profiles.</a:t>
            </a:r>
            <a:endParaRPr lang="en-US" sz="1600"/>
          </a:p>
          <a:p>
            <a:r>
              <a:rPr lang="en-US" sz="1600"/>
              <a:t>Italian Primavera or Italian Serie B: to grow in a tactically mature context.</a:t>
            </a:r>
            <a:endParaRPr lang="en-US" sz="1600"/>
          </a:p>
          <a:p>
            <a:r>
              <a:rPr lang="en-US" sz="1600"/>
              <a:t>Spanish Liga 2: very suitable for associative attacking midfielders.</a:t>
            </a:r>
            <a:endParaRPr lang="en-US" sz="1600"/>
          </a:p>
          <a:p>
            <a:r>
              <a:rPr lang="en-US" sz="1600"/>
              <a:t>In perspective: MLS or a return to Europe in intermediate leagues (Belgium, Portugal).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3049</Words>
  <Application>WPS Presentation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</vt:lpstr>
      <vt:lpstr>BEST ROLES (SUITABLE)</vt:lpstr>
      <vt:lpstr> </vt:lpstr>
      <vt:lpstr>The parameters indicate that it is similar to</vt:lpstr>
      <vt:lpstr> </vt:lpstr>
      <vt:lpstr>Final Consideration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29</cp:revision>
  <dcterms:created xsi:type="dcterms:W3CDTF">2023-06-04T10:59:00Z</dcterms:created>
  <dcterms:modified xsi:type="dcterms:W3CDTF">2025-04-17T12:55:45Z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