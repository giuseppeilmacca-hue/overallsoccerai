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70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7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24417" y="3717925"/>
            <a:ext cx="10943167" cy="1082675"/>
          </a:xfrm>
        </p:spPr>
        <p:txBody>
          <a:bodyPr/>
          <a:lstStyle>
            <a:lvl1pPr algn="r">
              <a:defRPr/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626533" y="4940300"/>
            <a:ext cx="10949517" cy="981075"/>
          </a:xfrm>
        </p:spPr>
        <p:txBody>
          <a:bodyPr/>
          <a:lstStyle>
            <a:lvl1pPr marL="0" indent="0" algn="r">
              <a:buFontTx/>
              <a:buNone/>
              <a:defRPr/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7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7" y="2505075"/>
            <a:ext cx="5158316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5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90500"/>
            <a:ext cx="2743200" cy="59372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90500"/>
            <a:ext cx="8026400" cy="59372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1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609600" y="1174750"/>
            <a:ext cx="109728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altLang="en-US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0000"/>
                </a:solidFill>
                <a:effectLst/>
                <a:sym typeface="+mn-ea"/>
              </a:rPr>
              <a:t>Technical Schedule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 descr="9115615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365" cy="6858635"/>
          </a:xfrm>
          <a:prstGeom prst="rect">
            <a:avLst/>
          </a:prstGeom>
        </p:spPr>
      </p:pic>
      <p:sp>
        <p:nvSpPr>
          <p:cNvPr id="5" name="Rectangles 4"/>
          <p:cNvSpPr/>
          <p:nvPr/>
        </p:nvSpPr>
        <p:spPr>
          <a:xfrm>
            <a:off x="1447800" y="2829560"/>
            <a:ext cx="9295765" cy="341503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p>
            <a:pPr algn="ctr"/>
            <a:r>
              <a:rPr lang="it-IT" altLang="en-US" sz="7200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Giuseppe</a:t>
            </a:r>
            <a:endParaRPr lang="it-IT" altLang="en-US" sz="7200" b="1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  <a:p>
            <a:pPr algn="ctr"/>
            <a:r>
              <a:rPr lang="it-IT" altLang="en-US" sz="7200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Macca</a:t>
            </a:r>
            <a:endParaRPr lang="it-IT" altLang="en-US" sz="7200" b="1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  <a:p>
            <a:pPr algn="ctr"/>
            <a:r>
              <a:rPr lang="it-IT" altLang="en-US" sz="7200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Analytics Algorithms</a:t>
            </a:r>
            <a:endParaRPr lang="it-IT" altLang="en-US" sz="7200" b="1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randomBar dir="vert"/>
      </p:transition>
    </mc:Choice>
    <mc:Fallback>
      <p:transition spd="slow">
        <p:randomBar dir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threePt" dir="t"/>
            </a:scene3d>
          </a:bodyPr>
          <a:p>
            <a:r>
              <a:rPr lang="it-IT" altLang="en-US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640000" algn="bl" rotWithShape="0">
                    <a:schemeClr val="accent1"/>
                  </a:outerShdw>
                </a:effectLst>
              </a:rPr>
              <a:t>                          </a:t>
            </a:r>
            <a:r>
              <a:rPr lang="it-IT" altLang="en-US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640000" algn="bl" rotWithShape="0">
                    <a:schemeClr val="accent1"/>
                  </a:outerShdw>
                </a:effectLst>
                <a:sym typeface="+mn-ea"/>
              </a:rPr>
              <a:t>Technical Schedule</a:t>
            </a:r>
            <a:endParaRPr lang="it-IT" altLang="en-US">
              <a:ln w="12700">
                <a:solidFill>
                  <a:schemeClr val="accent1"/>
                </a:solidFill>
                <a:prstDash val="solid"/>
              </a:ln>
              <a:solidFill>
                <a:srgbClr val="FF0000"/>
              </a:solidFill>
              <a:effectLst>
                <a:outerShdw dist="38100" dir="2640000" algn="bl" rotWithShape="0">
                  <a:schemeClr val="accent1"/>
                </a:outerShdw>
              </a:effectLst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174750"/>
            <a:ext cx="10972800" cy="5427980"/>
          </a:xfrm>
        </p:spPr>
        <p:txBody>
          <a:bodyPr/>
          <a:p>
            <a:pPr marL="0" indent="0">
              <a:buNone/>
            </a:pPr>
            <a:r>
              <a:rPr lang="it-IT" altLang="en-US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             </a:t>
            </a:r>
            <a:r>
              <a:rPr lang="it-IT" altLang="en-US">
                <a:gradFill>
                  <a:gsLst>
                    <a:gs pos="0">
                      <a:srgbClr val="14CD68"/>
                    </a:gs>
                    <a:gs pos="100000">
                      <a:srgbClr val="035C7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Name:   </a:t>
            </a:r>
            <a:r>
              <a:rPr lang="en-US" altLang="en-US">
                <a:gradFill>
                  <a:gsLst>
                    <a:gs pos="0">
                      <a:srgbClr val="14CD68"/>
                    </a:gs>
                    <a:gs pos="100000">
                      <a:srgbClr val="035C7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Leandro Viana da Silva Gama</a:t>
            </a:r>
            <a:r>
              <a:rPr lang="it-IT" altLang="en-US">
                <a:gradFill>
                  <a:gsLst>
                    <a:gs pos="0">
                      <a:srgbClr val="14CD68"/>
                    </a:gs>
                    <a:gs pos="100000">
                      <a:srgbClr val="035C7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        </a:t>
            </a:r>
            <a:endParaRPr lang="it-IT" altLang="en-US">
              <a:gradFill>
                <a:gsLst>
                  <a:gs pos="0">
                    <a:srgbClr val="14CD68"/>
                  </a:gs>
                  <a:gs pos="100000">
                    <a:srgbClr val="035C7D"/>
                  </a:gs>
                </a:gsLst>
                <a:lin scaled="0"/>
              </a:gra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  <a:p>
            <a:pPr marL="0" indent="0">
              <a:buNone/>
            </a:pPr>
            <a:r>
              <a:rPr lang="it-IT" altLang="en-US">
                <a:gradFill>
                  <a:gsLst>
                    <a:gs pos="0">
                      <a:srgbClr val="14CD68"/>
                    </a:gs>
                    <a:gs pos="100000">
                      <a:srgbClr val="035C7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             Citizenship:  </a:t>
            </a:r>
            <a:r>
              <a:rPr lang="en-US" altLang="en-US">
                <a:gradFill>
                  <a:gsLst>
                    <a:gs pos="0">
                      <a:srgbClr val="14CD68"/>
                    </a:gs>
                    <a:gs pos="100000">
                      <a:srgbClr val="035C7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Brazil</a:t>
            </a:r>
            <a:endParaRPr lang="en-US" altLang="en-US">
              <a:gradFill>
                <a:gsLst>
                  <a:gs pos="0">
                    <a:srgbClr val="14CD68"/>
                  </a:gs>
                  <a:gs pos="100000">
                    <a:srgbClr val="035C7D"/>
                  </a:gs>
                </a:gsLst>
                <a:lin scaled="0"/>
              </a:gra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  <a:p>
            <a:pPr marL="0" indent="0">
              <a:buNone/>
            </a:pPr>
            <a:r>
              <a:rPr lang="it-IT" altLang="en-US">
                <a:gradFill>
                  <a:gsLst>
                    <a:gs pos="0">
                      <a:srgbClr val="14CD68"/>
                    </a:gs>
                    <a:gs pos="100000">
                      <a:srgbClr val="035C7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             born:    </a:t>
            </a:r>
            <a:r>
              <a:rPr lang="en-US" altLang="en-US">
                <a:gradFill>
                  <a:gsLst>
                    <a:gs pos="0">
                      <a:srgbClr val="14CD68"/>
                    </a:gs>
                    <a:gs pos="100000">
                      <a:srgbClr val="035C7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17/03/2005</a:t>
            </a:r>
            <a:r>
              <a:rPr lang="it-IT" altLang="en-US">
                <a:gradFill>
                  <a:gsLst>
                    <a:gs pos="0">
                      <a:srgbClr val="14CD68"/>
                    </a:gs>
                    <a:gs pos="100000">
                      <a:srgbClr val="035C7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           </a:t>
            </a:r>
            <a:endParaRPr lang="it-IT" altLang="en-US">
              <a:gradFill>
                <a:gsLst>
                  <a:gs pos="0">
                    <a:srgbClr val="14CD68"/>
                  </a:gs>
                  <a:gs pos="100000">
                    <a:srgbClr val="035C7D"/>
                  </a:gs>
                </a:gsLst>
                <a:lin scaled="0"/>
              </a:gra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  <a:p>
            <a:pPr marL="0" indent="0">
              <a:buNone/>
            </a:pPr>
            <a:r>
              <a:rPr lang="it-IT" altLang="en-US">
                <a:gradFill>
                  <a:gsLst>
                    <a:gs pos="0">
                      <a:srgbClr val="14CD68"/>
                    </a:gs>
                    <a:gs pos="100000">
                      <a:srgbClr val="035C7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             Position:   </a:t>
            </a:r>
            <a:r>
              <a:rPr lang="en-US" altLang="en-US">
                <a:gradFill>
                  <a:gsLst>
                    <a:gs pos="0">
                      <a:srgbClr val="14CD68"/>
                    </a:gs>
                    <a:gs pos="100000">
                      <a:srgbClr val="035C7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Defender - Left-Back</a:t>
            </a:r>
            <a:r>
              <a:rPr lang="it-IT" altLang="en-US">
                <a:gradFill>
                  <a:gsLst>
                    <a:gs pos="0">
                      <a:srgbClr val="14CD68"/>
                    </a:gs>
                    <a:gs pos="100000">
                      <a:srgbClr val="035C7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     </a:t>
            </a:r>
            <a:endParaRPr lang="it-IT" altLang="en-US">
              <a:gradFill>
                <a:gsLst>
                  <a:gs pos="0">
                    <a:srgbClr val="14CD68"/>
                  </a:gs>
                  <a:gs pos="100000">
                    <a:srgbClr val="035C7D"/>
                  </a:gs>
                </a:gsLst>
                <a:lin scaled="0"/>
              </a:gra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  <a:p>
            <a:pPr marL="0" indent="0">
              <a:buNone/>
            </a:pPr>
            <a:r>
              <a:rPr lang="it-IT" altLang="en-US">
                <a:gradFill>
                  <a:gsLst>
                    <a:gs pos="0">
                      <a:srgbClr val="14CD68"/>
                    </a:gs>
                    <a:gs pos="100000">
                      <a:srgbClr val="035C7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             Foot:       left    </a:t>
            </a:r>
            <a:endParaRPr lang="it-IT" altLang="en-US">
              <a:gradFill>
                <a:gsLst>
                  <a:gs pos="0">
                    <a:srgbClr val="14CD68"/>
                  </a:gs>
                  <a:gs pos="100000">
                    <a:srgbClr val="035C7D"/>
                  </a:gs>
                </a:gsLst>
                <a:lin scaled="0"/>
              </a:gra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  <a:p>
            <a:pPr marL="0" indent="0">
              <a:buNone/>
            </a:pPr>
            <a:r>
              <a:rPr lang="it-IT" altLang="en-US">
                <a:gradFill>
                  <a:gsLst>
                    <a:gs pos="0">
                      <a:srgbClr val="14CD68"/>
                    </a:gs>
                    <a:gs pos="100000">
                      <a:srgbClr val="035C7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             H</a:t>
            </a:r>
            <a:r>
              <a:rPr lang="it-IT" altLang="en-US">
                <a:gradFill>
                  <a:gsLst>
                    <a:gs pos="0">
                      <a:srgbClr val="14CD68"/>
                    </a:gs>
                    <a:gs pos="100000">
                      <a:srgbClr val="035C7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eight:         1,77   </a:t>
            </a:r>
            <a:endParaRPr lang="it-IT" altLang="en-US">
              <a:gradFill>
                <a:gsLst>
                  <a:gs pos="0">
                    <a:srgbClr val="14CD68"/>
                  </a:gs>
                  <a:gs pos="100000">
                    <a:srgbClr val="035C7D"/>
                  </a:gs>
                </a:gsLst>
                <a:lin scaled="0"/>
              </a:gra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  <a:p>
            <a:pPr marL="0" indent="0">
              <a:buNone/>
            </a:pPr>
            <a:r>
              <a:rPr lang="it-IT" altLang="en-US">
                <a:gradFill>
                  <a:gsLst>
                    <a:gs pos="0">
                      <a:srgbClr val="14CD68"/>
                    </a:gs>
                    <a:gs pos="100000">
                      <a:srgbClr val="035C7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             Club:    </a:t>
            </a:r>
            <a:r>
              <a:rPr lang="en-US" altLang="en-US">
                <a:gradFill>
                  <a:gsLst>
                    <a:gs pos="0">
                      <a:srgbClr val="14CD68"/>
                    </a:gs>
                    <a:gs pos="100000">
                      <a:srgbClr val="035C7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Clube de Regatas Vasco da Gama</a:t>
            </a:r>
            <a:r>
              <a:rPr lang="it-IT" altLang="en-US">
                <a:gradFill>
                  <a:gsLst>
                    <a:gs pos="0">
                      <a:srgbClr val="14CD68"/>
                    </a:gs>
                    <a:gs pos="100000">
                      <a:srgbClr val="035C7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         </a:t>
            </a:r>
            <a:endParaRPr lang="it-IT" altLang="en-US">
              <a:gradFill>
                <a:gsLst>
                  <a:gs pos="0">
                    <a:srgbClr val="14CD68"/>
                  </a:gs>
                  <a:gs pos="100000">
                    <a:srgbClr val="035C7D"/>
                  </a:gs>
                </a:gsLst>
                <a:lin scaled="0"/>
              </a:gra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  <a:p>
            <a:pPr marL="0" indent="0">
              <a:buNone/>
            </a:pPr>
            <a:r>
              <a:rPr lang="it-IT" altLang="en-US">
                <a:gradFill>
                  <a:gsLst>
                    <a:gs pos="0">
                      <a:srgbClr val="14CD68"/>
                    </a:gs>
                    <a:gs pos="100000">
                      <a:srgbClr val="035C7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        </a:t>
            </a:r>
            <a:endParaRPr lang="it-IT" altLang="en-US">
              <a:gradFill>
                <a:gsLst>
                  <a:gs pos="0">
                    <a:srgbClr val="14CD68"/>
                  </a:gs>
                  <a:gs pos="100000">
                    <a:srgbClr val="035C7D"/>
                  </a:gs>
                </a:gsLst>
                <a:lin scaled="0"/>
              </a:gra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marL="0" indent="0">
              <a:buNone/>
            </a:pPr>
            <a:endParaRPr lang="it-IT" altLang="en-US">
              <a:gradFill>
                <a:gsLst>
                  <a:gs pos="0">
                    <a:srgbClr val="14CD68"/>
                  </a:gs>
                  <a:gs pos="100000">
                    <a:srgbClr val="035C7D"/>
                  </a:gs>
                </a:gsLst>
                <a:lin scaled="0"/>
              </a:gra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7" name="Content Placeholder 6" descr="91156155 (2)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11222990" y="5876290"/>
            <a:ext cx="969010" cy="9817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randomBar dir="vert"/>
      </p:transition>
    </mc:Choice>
    <mc:Fallback>
      <p:transition spd="slow">
        <p:randomBar dir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it-IT" altLang="en-US"/>
              <a:t>SEASON HEATMAP</a:t>
            </a:r>
            <a:endParaRPr lang="it-IT" altLang="en-US"/>
          </a:p>
        </p:txBody>
      </p:sp>
      <p:pic>
        <p:nvPicPr>
          <p:cNvPr id="3" name="Content Placeholder 2" descr="WhatsApp Image 2025-11-01 at 10.36.39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732155" y="948055"/>
            <a:ext cx="10849610" cy="54197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graphicFrame>
        <p:nvGraphicFramePr>
          <p:cNvPr id="4" name="Content Placeholder 3"/>
          <p:cNvGraphicFramePr/>
          <p:nvPr>
            <p:ph sz="half" idx="1"/>
          </p:nvPr>
        </p:nvGraphicFramePr>
        <p:xfrm>
          <a:off x="762000" y="1155700"/>
          <a:ext cx="1060577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02885"/>
                <a:gridCol w="5302885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PHYSICAL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1" i="0">
                          <a:solidFill>
                            <a:srgbClr val="000000"/>
                          </a:solidFill>
                          <a:latin typeface="Arial Black" panose="020B0A04020102020204" charset="0"/>
                          <a:ea typeface="Inter"/>
                          <a:cs typeface="Arial Black" panose="020B0A04020102020204" charset="0"/>
                        </a:rPr>
                        <a:t>Acceleration</a:t>
                      </a:r>
                      <a:endParaRPr sz="1100" b="1" i="0">
                        <a:solidFill>
                          <a:srgbClr val="000000"/>
                        </a:solidFill>
                        <a:latin typeface="Arial Black" panose="020B0A04020102020204" charset="0"/>
                        <a:ea typeface="Inter"/>
                        <a:cs typeface="Arial Black" panose="020B0A04020102020204" charset="0"/>
                      </a:endParaRPr>
                    </a:p>
                  </a:txBody>
                  <a:tcPr marL="152717" marR="152717" marT="57467" marB="57467" anchor="ctr" anchorCtr="0"/>
                </a:tc>
                <a:tc>
                  <a:txBody>
                    <a:bodyPr/>
                    <a:p>
                      <a:pPr marL="0" indent="0" algn="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1" i="0">
                          <a:solidFill>
                            <a:srgbClr val="09182D"/>
                          </a:solidFill>
                          <a:latin typeface="Arial Black" panose="020B0A04020102020204" charset="0"/>
                          <a:ea typeface="Inter"/>
                          <a:cs typeface="Arial Black" panose="020B0A04020102020204" charset="0"/>
                        </a:rPr>
                        <a:t>70</a:t>
                      </a:r>
                      <a:endParaRPr sz="1100" b="1" i="0">
                        <a:solidFill>
                          <a:srgbClr val="09182D"/>
                        </a:solidFill>
                        <a:latin typeface="Arial Black" panose="020B0A04020102020204" charset="0"/>
                        <a:ea typeface="Inter"/>
                        <a:cs typeface="Arial Black" panose="020B0A04020102020204" charset="0"/>
                      </a:endParaRPr>
                    </a:p>
                  </a:txBody>
                  <a:tcPr marL="152717" marR="152717" marT="57467" marB="57467" anchor="ctr" anchorCtr="0"/>
                </a:tc>
              </a:tr>
              <a:tr h="36576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1" i="0">
                          <a:solidFill>
                            <a:srgbClr val="000000"/>
                          </a:solidFill>
                          <a:latin typeface="Arial Black" panose="020B0A04020102020204" charset="0"/>
                          <a:ea typeface="Inter"/>
                          <a:cs typeface="Arial Black" panose="020B0A04020102020204" charset="0"/>
                        </a:rPr>
                        <a:t>Agility</a:t>
                      </a:r>
                      <a:endParaRPr sz="1100" b="1" i="0">
                        <a:solidFill>
                          <a:srgbClr val="000000"/>
                        </a:solidFill>
                        <a:latin typeface="Arial Black" panose="020B0A04020102020204" charset="0"/>
                        <a:ea typeface="Inter"/>
                        <a:cs typeface="Arial Black" panose="020B0A04020102020204" charset="0"/>
                      </a:endParaRPr>
                    </a:p>
                  </a:txBody>
                  <a:tcPr marL="152717" marR="152717" marT="57467" marB="57467" anchor="ctr" anchorCtr="0"/>
                </a:tc>
                <a:tc>
                  <a:txBody>
                    <a:bodyPr/>
                    <a:p>
                      <a:pPr marL="0" indent="0" algn="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1" i="0">
                          <a:solidFill>
                            <a:srgbClr val="09182D"/>
                          </a:solidFill>
                          <a:latin typeface="Arial Black" panose="020B0A04020102020204" charset="0"/>
                          <a:ea typeface="Inter"/>
                          <a:cs typeface="Arial Black" panose="020B0A04020102020204" charset="0"/>
                        </a:rPr>
                        <a:t>70</a:t>
                      </a:r>
                      <a:endParaRPr sz="1100" b="1" i="0">
                        <a:solidFill>
                          <a:srgbClr val="09182D"/>
                        </a:solidFill>
                        <a:latin typeface="Arial Black" panose="020B0A04020102020204" charset="0"/>
                        <a:ea typeface="Inter"/>
                        <a:cs typeface="Arial Black" panose="020B0A04020102020204" charset="0"/>
                      </a:endParaRPr>
                    </a:p>
                  </a:txBody>
                  <a:tcPr marL="152717" marR="152717" marT="57467" marB="57467" anchor="ctr" anchorCtr="0"/>
                </a:tc>
              </a:tr>
              <a:tr h="36576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1" i="0">
                          <a:solidFill>
                            <a:srgbClr val="000000"/>
                          </a:solidFill>
                          <a:latin typeface="Arial Black" panose="020B0A04020102020204" charset="0"/>
                          <a:ea typeface="Inter"/>
                          <a:cs typeface="Arial Black" panose="020B0A04020102020204" charset="0"/>
                        </a:rPr>
                        <a:t>Balance</a:t>
                      </a:r>
                      <a:endParaRPr sz="1100" b="1" i="0">
                        <a:solidFill>
                          <a:srgbClr val="000000"/>
                        </a:solidFill>
                        <a:latin typeface="Arial Black" panose="020B0A04020102020204" charset="0"/>
                        <a:ea typeface="Inter"/>
                        <a:cs typeface="Arial Black" panose="020B0A04020102020204" charset="0"/>
                      </a:endParaRPr>
                    </a:p>
                  </a:txBody>
                  <a:tcPr marL="152717" marR="152717" marT="57467" marB="57467" anchor="ctr" anchorCtr="0"/>
                </a:tc>
                <a:tc>
                  <a:txBody>
                    <a:bodyPr/>
                    <a:p>
                      <a:pPr marL="0" indent="0" algn="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1" i="0">
                          <a:solidFill>
                            <a:srgbClr val="09182D"/>
                          </a:solidFill>
                          <a:latin typeface="Arial Black" panose="020B0A04020102020204" charset="0"/>
                          <a:ea typeface="Inter"/>
                          <a:cs typeface="Arial Black" panose="020B0A04020102020204" charset="0"/>
                        </a:rPr>
                        <a:t>60</a:t>
                      </a:r>
                      <a:endParaRPr sz="1100" b="1" i="0">
                        <a:solidFill>
                          <a:srgbClr val="09182D"/>
                        </a:solidFill>
                        <a:latin typeface="Arial Black" panose="020B0A04020102020204" charset="0"/>
                        <a:ea typeface="Inter"/>
                        <a:cs typeface="Arial Black" panose="020B0A04020102020204" charset="0"/>
                      </a:endParaRPr>
                    </a:p>
                  </a:txBody>
                  <a:tcPr marL="152717" marR="152717" marT="57467" marB="57467" anchor="ctr" anchorCtr="0"/>
                </a:tc>
              </a:tr>
              <a:tr h="36576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1" i="0">
                          <a:solidFill>
                            <a:srgbClr val="000000"/>
                          </a:solidFill>
                          <a:latin typeface="Arial Black" panose="020B0A04020102020204" charset="0"/>
                          <a:ea typeface="Inter"/>
                          <a:cs typeface="Arial Black" panose="020B0A04020102020204" charset="0"/>
                        </a:rPr>
                        <a:t>Jumping Reach</a:t>
                      </a:r>
                      <a:endParaRPr sz="1100" b="1" i="0">
                        <a:solidFill>
                          <a:srgbClr val="000000"/>
                        </a:solidFill>
                        <a:latin typeface="Arial Black" panose="020B0A04020102020204" charset="0"/>
                        <a:ea typeface="Inter"/>
                        <a:cs typeface="Arial Black" panose="020B0A04020102020204" charset="0"/>
                      </a:endParaRPr>
                    </a:p>
                  </a:txBody>
                  <a:tcPr marL="152717" marR="152717" marT="57467" marB="57467" anchor="ctr" anchorCtr="0"/>
                </a:tc>
                <a:tc>
                  <a:txBody>
                    <a:bodyPr/>
                    <a:p>
                      <a:pPr marL="0" indent="0" algn="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1" i="0">
                          <a:solidFill>
                            <a:srgbClr val="000000"/>
                          </a:solidFill>
                          <a:latin typeface="Arial Black" panose="020B0A04020102020204" charset="0"/>
                          <a:ea typeface="Inter"/>
                          <a:cs typeface="Arial Black" panose="020B0A04020102020204" charset="0"/>
                        </a:rPr>
                        <a:t>35</a:t>
                      </a:r>
                      <a:endParaRPr sz="1100" b="1" i="0">
                        <a:solidFill>
                          <a:srgbClr val="000000"/>
                        </a:solidFill>
                        <a:latin typeface="Arial Black" panose="020B0A04020102020204" charset="0"/>
                        <a:ea typeface="Inter"/>
                        <a:cs typeface="Arial Black" panose="020B0A04020102020204" charset="0"/>
                      </a:endParaRPr>
                    </a:p>
                  </a:txBody>
                  <a:tcPr marL="152717" marR="152717" marT="57467" marB="57467" anchor="ctr" anchorCtr="0"/>
                </a:tc>
              </a:tr>
              <a:tr h="36576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1" i="0">
                          <a:solidFill>
                            <a:srgbClr val="000000"/>
                          </a:solidFill>
                          <a:latin typeface="Arial Black" panose="020B0A04020102020204" charset="0"/>
                          <a:ea typeface="Inter"/>
                          <a:cs typeface="Arial Black" panose="020B0A04020102020204" charset="0"/>
                        </a:rPr>
                        <a:t>Natural Fitness</a:t>
                      </a:r>
                      <a:endParaRPr sz="1100" b="1" i="0">
                        <a:solidFill>
                          <a:srgbClr val="000000"/>
                        </a:solidFill>
                        <a:latin typeface="Arial Black" panose="020B0A04020102020204" charset="0"/>
                        <a:ea typeface="Inter"/>
                        <a:cs typeface="Arial Black" panose="020B0A04020102020204" charset="0"/>
                      </a:endParaRPr>
                    </a:p>
                  </a:txBody>
                  <a:tcPr marL="152717" marR="152717" marT="57467" marB="57467" anchor="ctr" anchorCtr="0"/>
                </a:tc>
                <a:tc>
                  <a:txBody>
                    <a:bodyPr/>
                    <a:p>
                      <a:pPr marL="0" indent="0" algn="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1" i="0">
                          <a:solidFill>
                            <a:srgbClr val="09182D"/>
                          </a:solidFill>
                          <a:latin typeface="Arial Black" panose="020B0A04020102020204" charset="0"/>
                          <a:ea typeface="Inter"/>
                          <a:cs typeface="Arial Black" panose="020B0A04020102020204" charset="0"/>
                        </a:rPr>
                        <a:t>60</a:t>
                      </a:r>
                      <a:endParaRPr sz="1100" b="1" i="0">
                        <a:solidFill>
                          <a:srgbClr val="09182D"/>
                        </a:solidFill>
                        <a:latin typeface="Arial Black" panose="020B0A04020102020204" charset="0"/>
                        <a:ea typeface="Inter"/>
                        <a:cs typeface="Arial Black" panose="020B0A04020102020204" charset="0"/>
                      </a:endParaRPr>
                    </a:p>
                  </a:txBody>
                  <a:tcPr marL="152717" marR="152717" marT="57467" marB="57467" anchor="ctr" anchorCtr="0"/>
                </a:tc>
              </a:tr>
              <a:tr h="36576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1" i="0">
                          <a:solidFill>
                            <a:srgbClr val="000000"/>
                          </a:solidFill>
                          <a:latin typeface="Arial Black" panose="020B0A04020102020204" charset="0"/>
                          <a:ea typeface="Inter"/>
                          <a:cs typeface="Arial Black" panose="020B0A04020102020204" charset="0"/>
                        </a:rPr>
                        <a:t>Pace</a:t>
                      </a:r>
                      <a:endParaRPr sz="1100" b="1" i="0">
                        <a:solidFill>
                          <a:srgbClr val="000000"/>
                        </a:solidFill>
                        <a:latin typeface="Arial Black" panose="020B0A04020102020204" charset="0"/>
                        <a:ea typeface="Inter"/>
                        <a:cs typeface="Arial Black" panose="020B0A04020102020204" charset="0"/>
                      </a:endParaRPr>
                    </a:p>
                  </a:txBody>
                  <a:tcPr marL="152717" marR="152717" marT="57467" marB="57467" anchor="ctr" anchorCtr="0"/>
                </a:tc>
                <a:tc>
                  <a:txBody>
                    <a:bodyPr/>
                    <a:p>
                      <a:pPr marL="0" indent="0" algn="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1" i="0">
                          <a:solidFill>
                            <a:srgbClr val="09182D"/>
                          </a:solidFill>
                          <a:latin typeface="Arial Black" panose="020B0A04020102020204" charset="0"/>
                          <a:ea typeface="Inter"/>
                          <a:cs typeface="Arial Black" panose="020B0A04020102020204" charset="0"/>
                        </a:rPr>
                        <a:t>65</a:t>
                      </a:r>
                      <a:endParaRPr sz="1100" b="1" i="0">
                        <a:solidFill>
                          <a:srgbClr val="09182D"/>
                        </a:solidFill>
                        <a:latin typeface="Arial Black" panose="020B0A04020102020204" charset="0"/>
                        <a:ea typeface="Inter"/>
                        <a:cs typeface="Arial Black" panose="020B0A04020102020204" charset="0"/>
                      </a:endParaRPr>
                    </a:p>
                  </a:txBody>
                  <a:tcPr marL="152717" marR="152717" marT="57467" marB="57467" anchor="ctr" anchorCtr="0"/>
                </a:tc>
              </a:tr>
              <a:tr h="36576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1" i="0">
                          <a:solidFill>
                            <a:srgbClr val="000000"/>
                          </a:solidFill>
                          <a:latin typeface="Arial Black" panose="020B0A04020102020204" charset="0"/>
                          <a:ea typeface="Inter"/>
                          <a:cs typeface="Arial Black" panose="020B0A04020102020204" charset="0"/>
                        </a:rPr>
                        <a:t>Stamina</a:t>
                      </a:r>
                      <a:endParaRPr sz="1100" b="1" i="0">
                        <a:solidFill>
                          <a:srgbClr val="000000"/>
                        </a:solidFill>
                        <a:latin typeface="Arial Black" panose="020B0A04020102020204" charset="0"/>
                        <a:ea typeface="Inter"/>
                        <a:cs typeface="Arial Black" panose="020B0A04020102020204" charset="0"/>
                      </a:endParaRPr>
                    </a:p>
                  </a:txBody>
                  <a:tcPr marL="152717" marR="152717" marT="57467" marB="57467" anchor="ctr" anchorCtr="0"/>
                </a:tc>
                <a:tc>
                  <a:txBody>
                    <a:bodyPr/>
                    <a:p>
                      <a:pPr marL="0" indent="0" algn="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1" i="0">
                          <a:solidFill>
                            <a:srgbClr val="09182D"/>
                          </a:solidFill>
                          <a:latin typeface="Arial Black" panose="020B0A04020102020204" charset="0"/>
                          <a:ea typeface="Inter"/>
                          <a:cs typeface="Arial Black" panose="020B0A04020102020204" charset="0"/>
                        </a:rPr>
                        <a:t>55</a:t>
                      </a:r>
                      <a:endParaRPr sz="1100" b="1" i="0">
                        <a:solidFill>
                          <a:srgbClr val="09182D"/>
                        </a:solidFill>
                        <a:latin typeface="Arial Black" panose="020B0A04020102020204" charset="0"/>
                        <a:ea typeface="Inter"/>
                        <a:cs typeface="Arial Black" panose="020B0A04020102020204" charset="0"/>
                      </a:endParaRPr>
                    </a:p>
                  </a:txBody>
                  <a:tcPr marL="152717" marR="152717" marT="57467" marB="57467" anchor="ctr" anchorCtr="0"/>
                </a:tc>
              </a:tr>
              <a:tr h="36576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1" i="0">
                          <a:solidFill>
                            <a:srgbClr val="000000"/>
                          </a:solidFill>
                          <a:latin typeface="Arial Black" panose="020B0A04020102020204" charset="0"/>
                          <a:ea typeface="Inter"/>
                          <a:cs typeface="Arial Black" panose="020B0A04020102020204" charset="0"/>
                        </a:rPr>
                        <a:t>Strength</a:t>
                      </a:r>
                      <a:endParaRPr sz="1100" b="1" i="0">
                        <a:solidFill>
                          <a:srgbClr val="000000"/>
                        </a:solidFill>
                        <a:latin typeface="Arial Black" panose="020B0A04020102020204" charset="0"/>
                        <a:ea typeface="Inter"/>
                        <a:cs typeface="Arial Black" panose="020B0A04020102020204" charset="0"/>
                      </a:endParaRPr>
                    </a:p>
                  </a:txBody>
                  <a:tcPr marL="152717" marR="152717" marT="57467" marB="57467" anchor="ctr" anchorCtr="0"/>
                </a:tc>
                <a:tc>
                  <a:txBody>
                    <a:bodyPr/>
                    <a:p>
                      <a:pPr marL="0" indent="0" algn="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1" i="0">
                          <a:solidFill>
                            <a:srgbClr val="09182D"/>
                          </a:solidFill>
                          <a:latin typeface="Arial Black" panose="020B0A04020102020204" charset="0"/>
                          <a:ea typeface="Inter"/>
                          <a:cs typeface="Arial Black" panose="020B0A04020102020204" charset="0"/>
                        </a:rPr>
                        <a:t>55</a:t>
                      </a:r>
                      <a:endParaRPr sz="1100" b="1" i="0">
                        <a:solidFill>
                          <a:srgbClr val="09182D"/>
                        </a:solidFill>
                        <a:latin typeface="Arial Black" panose="020B0A04020102020204" charset="0"/>
                        <a:ea typeface="Inter"/>
                        <a:cs typeface="Arial Black" panose="020B0A04020102020204" charset="0"/>
                      </a:endParaRPr>
                    </a:p>
                  </a:txBody>
                  <a:tcPr marL="152717" marR="152717" marT="57467" marB="57467" anchor="ctr" anchorCtr="0"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6" name="Content Placeholder 5" descr="91156155 (2)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11222990" y="5876290"/>
            <a:ext cx="969010" cy="9817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randomBar dir="vert"/>
      </p:transition>
    </mc:Choice>
    <mc:Fallback>
      <p:transition spd="slow">
        <p:randomBar dir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it-IT" altLang="en-US"/>
              <a:t> </a:t>
            </a:r>
            <a:endParaRPr lang="it-IT" altLang="en-US"/>
          </a:p>
        </p:txBody>
      </p:sp>
      <p:graphicFrame>
        <p:nvGraphicFramePr>
          <p:cNvPr id="5" name="Content Placeholder 4"/>
          <p:cNvGraphicFramePr/>
          <p:nvPr>
            <p:ph sz="half" idx="1"/>
          </p:nvPr>
        </p:nvGraphicFramePr>
        <p:xfrm>
          <a:off x="609600" y="184150"/>
          <a:ext cx="10972800" cy="56673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76240"/>
                <a:gridCol w="5496560"/>
              </a:tblGrid>
              <a:tr h="37782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MENTAL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  <a:tr h="377825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1" i="0">
                          <a:solidFill>
                            <a:srgbClr val="000000"/>
                          </a:solidFill>
                          <a:latin typeface="Arial Black" panose="020B0A04020102020204" charset="0"/>
                          <a:ea typeface="Inter"/>
                          <a:cs typeface="Arial Black" panose="020B0A04020102020204" charset="0"/>
                        </a:rPr>
                        <a:t>Aggression</a:t>
                      </a:r>
                      <a:endParaRPr sz="1100" b="1" i="0">
                        <a:solidFill>
                          <a:srgbClr val="000000"/>
                        </a:solidFill>
                        <a:latin typeface="Arial Black" panose="020B0A04020102020204" charset="0"/>
                        <a:ea typeface="Inter"/>
                        <a:cs typeface="Arial Black" panose="020B0A04020102020204" charset="0"/>
                      </a:endParaRPr>
                    </a:p>
                  </a:txBody>
                  <a:tcPr marL="152717" marR="152717" marT="57467" marB="57467" anchor="ctr" anchorCtr="0"/>
                </a:tc>
                <a:tc>
                  <a:txBody>
                    <a:bodyPr/>
                    <a:p>
                      <a:pPr marL="0" indent="0" algn="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1" i="0">
                          <a:solidFill>
                            <a:srgbClr val="000000"/>
                          </a:solidFill>
                          <a:latin typeface="Arial Black" panose="020B0A04020102020204" charset="0"/>
                          <a:ea typeface="Inter"/>
                          <a:cs typeface="Arial Black" panose="020B0A04020102020204" charset="0"/>
                        </a:rPr>
                        <a:t>35</a:t>
                      </a:r>
                      <a:endParaRPr sz="1100" b="1" i="0">
                        <a:solidFill>
                          <a:srgbClr val="000000"/>
                        </a:solidFill>
                        <a:latin typeface="Arial Black" panose="020B0A04020102020204" charset="0"/>
                        <a:ea typeface="Inter"/>
                        <a:cs typeface="Arial Black" panose="020B0A04020102020204" charset="0"/>
                      </a:endParaRPr>
                    </a:p>
                  </a:txBody>
                  <a:tcPr marL="152717" marR="152717" marT="57467" marB="57467" anchor="ctr" anchorCtr="0"/>
                </a:tc>
              </a:tr>
              <a:tr h="377825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1" i="0">
                          <a:solidFill>
                            <a:srgbClr val="000000"/>
                          </a:solidFill>
                          <a:latin typeface="Arial Black" panose="020B0A04020102020204" charset="0"/>
                          <a:ea typeface="Inter"/>
                          <a:cs typeface="Arial Black" panose="020B0A04020102020204" charset="0"/>
                        </a:rPr>
                        <a:t>Anticipation</a:t>
                      </a:r>
                      <a:endParaRPr sz="1100" b="1" i="0">
                        <a:solidFill>
                          <a:srgbClr val="000000"/>
                        </a:solidFill>
                        <a:latin typeface="Arial Black" panose="020B0A04020102020204" charset="0"/>
                        <a:ea typeface="Inter"/>
                        <a:cs typeface="Arial Black" panose="020B0A04020102020204" charset="0"/>
                      </a:endParaRPr>
                    </a:p>
                  </a:txBody>
                  <a:tcPr marL="152717" marR="152717" marT="57467" marB="57467" anchor="ctr" anchorCtr="0"/>
                </a:tc>
                <a:tc>
                  <a:txBody>
                    <a:bodyPr/>
                    <a:p>
                      <a:pPr marL="0" indent="0" algn="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1" i="0">
                          <a:solidFill>
                            <a:srgbClr val="09182D"/>
                          </a:solidFill>
                          <a:latin typeface="Arial Black" panose="020B0A04020102020204" charset="0"/>
                          <a:ea typeface="Inter"/>
                          <a:cs typeface="Arial Black" panose="020B0A04020102020204" charset="0"/>
                        </a:rPr>
                        <a:t>55</a:t>
                      </a:r>
                      <a:endParaRPr sz="1100" b="1" i="0">
                        <a:solidFill>
                          <a:srgbClr val="09182D"/>
                        </a:solidFill>
                        <a:latin typeface="Arial Black" panose="020B0A04020102020204" charset="0"/>
                        <a:ea typeface="Inter"/>
                        <a:cs typeface="Arial Black" panose="020B0A04020102020204" charset="0"/>
                      </a:endParaRPr>
                    </a:p>
                  </a:txBody>
                  <a:tcPr marL="152717" marR="152717" marT="57467" marB="57467" anchor="ctr" anchorCtr="0"/>
                </a:tc>
              </a:tr>
              <a:tr h="377825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1" i="0">
                          <a:solidFill>
                            <a:srgbClr val="000000"/>
                          </a:solidFill>
                          <a:latin typeface="Arial Black" panose="020B0A04020102020204" charset="0"/>
                          <a:ea typeface="Inter"/>
                          <a:cs typeface="Arial Black" panose="020B0A04020102020204" charset="0"/>
                        </a:rPr>
                        <a:t>Bravery</a:t>
                      </a:r>
                      <a:endParaRPr sz="1100" b="1" i="0">
                        <a:solidFill>
                          <a:srgbClr val="000000"/>
                        </a:solidFill>
                        <a:latin typeface="Arial Black" panose="020B0A04020102020204" charset="0"/>
                        <a:ea typeface="Inter"/>
                        <a:cs typeface="Arial Black" panose="020B0A04020102020204" charset="0"/>
                      </a:endParaRPr>
                    </a:p>
                  </a:txBody>
                  <a:tcPr marL="152717" marR="152717" marT="57467" marB="57467" anchor="ctr" anchorCtr="0"/>
                </a:tc>
                <a:tc>
                  <a:txBody>
                    <a:bodyPr/>
                    <a:p>
                      <a:pPr marL="0" indent="0" algn="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1" i="0">
                          <a:solidFill>
                            <a:srgbClr val="000000"/>
                          </a:solidFill>
                          <a:latin typeface="Arial Black" panose="020B0A04020102020204" charset="0"/>
                          <a:ea typeface="Inter"/>
                          <a:cs typeface="Arial Black" panose="020B0A04020102020204" charset="0"/>
                        </a:rPr>
                        <a:t>50</a:t>
                      </a:r>
                      <a:endParaRPr sz="1100" b="1" i="0">
                        <a:solidFill>
                          <a:srgbClr val="000000"/>
                        </a:solidFill>
                        <a:latin typeface="Arial Black" panose="020B0A04020102020204" charset="0"/>
                        <a:ea typeface="Inter"/>
                        <a:cs typeface="Arial Black" panose="020B0A04020102020204" charset="0"/>
                      </a:endParaRPr>
                    </a:p>
                  </a:txBody>
                  <a:tcPr marL="152717" marR="152717" marT="57467" marB="57467" anchor="ctr" anchorCtr="0"/>
                </a:tc>
              </a:tr>
              <a:tr h="377825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1" i="0">
                          <a:solidFill>
                            <a:srgbClr val="000000"/>
                          </a:solidFill>
                          <a:latin typeface="Arial Black" panose="020B0A04020102020204" charset="0"/>
                          <a:ea typeface="Inter"/>
                          <a:cs typeface="Arial Black" panose="020B0A04020102020204" charset="0"/>
                        </a:rPr>
                        <a:t>Composure</a:t>
                      </a:r>
                      <a:endParaRPr sz="1100" b="1" i="0">
                        <a:solidFill>
                          <a:srgbClr val="000000"/>
                        </a:solidFill>
                        <a:latin typeface="Arial Black" panose="020B0A04020102020204" charset="0"/>
                        <a:ea typeface="Inter"/>
                        <a:cs typeface="Arial Black" panose="020B0A04020102020204" charset="0"/>
                      </a:endParaRPr>
                    </a:p>
                  </a:txBody>
                  <a:tcPr marL="152717" marR="152717" marT="57467" marB="57467" anchor="ctr" anchorCtr="0"/>
                </a:tc>
                <a:tc>
                  <a:txBody>
                    <a:bodyPr/>
                    <a:p>
                      <a:pPr marL="0" indent="0" algn="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1" i="0">
                          <a:solidFill>
                            <a:srgbClr val="000000"/>
                          </a:solidFill>
                          <a:latin typeface="Arial Black" panose="020B0A04020102020204" charset="0"/>
                          <a:ea typeface="Inter"/>
                          <a:cs typeface="Arial Black" panose="020B0A04020102020204" charset="0"/>
                        </a:rPr>
                        <a:t>50</a:t>
                      </a:r>
                      <a:endParaRPr sz="1100" b="1" i="0">
                        <a:solidFill>
                          <a:srgbClr val="000000"/>
                        </a:solidFill>
                        <a:latin typeface="Arial Black" panose="020B0A04020102020204" charset="0"/>
                        <a:ea typeface="Inter"/>
                        <a:cs typeface="Arial Black" panose="020B0A04020102020204" charset="0"/>
                      </a:endParaRPr>
                    </a:p>
                  </a:txBody>
                  <a:tcPr marL="152717" marR="152717" marT="57467" marB="57467" anchor="ctr" anchorCtr="0"/>
                </a:tc>
              </a:tr>
              <a:tr h="377825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1" i="0">
                          <a:solidFill>
                            <a:srgbClr val="000000"/>
                          </a:solidFill>
                          <a:latin typeface="Arial Black" panose="020B0A04020102020204" charset="0"/>
                          <a:ea typeface="Inter"/>
                          <a:cs typeface="Arial Black" panose="020B0A04020102020204" charset="0"/>
                        </a:rPr>
                        <a:t>Concentration</a:t>
                      </a:r>
                      <a:endParaRPr sz="1100" b="1" i="0">
                        <a:solidFill>
                          <a:srgbClr val="000000"/>
                        </a:solidFill>
                        <a:latin typeface="Arial Black" panose="020B0A04020102020204" charset="0"/>
                        <a:ea typeface="Inter"/>
                        <a:cs typeface="Arial Black" panose="020B0A04020102020204" charset="0"/>
                      </a:endParaRPr>
                    </a:p>
                  </a:txBody>
                  <a:tcPr marL="152717" marR="152717" marT="57467" marB="57467" anchor="ctr" anchorCtr="0"/>
                </a:tc>
                <a:tc>
                  <a:txBody>
                    <a:bodyPr/>
                    <a:p>
                      <a:pPr marL="0" indent="0" algn="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1" i="0">
                          <a:solidFill>
                            <a:srgbClr val="000000"/>
                          </a:solidFill>
                          <a:latin typeface="Arial Black" panose="020B0A04020102020204" charset="0"/>
                          <a:ea typeface="Inter"/>
                          <a:cs typeface="Arial Black" panose="020B0A04020102020204" charset="0"/>
                        </a:rPr>
                        <a:t>45</a:t>
                      </a:r>
                      <a:endParaRPr sz="1100" b="1" i="0">
                        <a:solidFill>
                          <a:srgbClr val="000000"/>
                        </a:solidFill>
                        <a:latin typeface="Arial Black" panose="020B0A04020102020204" charset="0"/>
                        <a:ea typeface="Inter"/>
                        <a:cs typeface="Arial Black" panose="020B0A04020102020204" charset="0"/>
                      </a:endParaRPr>
                    </a:p>
                  </a:txBody>
                  <a:tcPr marL="152717" marR="152717" marT="57467" marB="57467" anchor="ctr" anchorCtr="0"/>
                </a:tc>
              </a:tr>
              <a:tr h="377825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1" i="0">
                          <a:solidFill>
                            <a:srgbClr val="000000"/>
                          </a:solidFill>
                          <a:latin typeface="Arial Black" panose="020B0A04020102020204" charset="0"/>
                          <a:ea typeface="Inter"/>
                          <a:cs typeface="Arial Black" panose="020B0A04020102020204" charset="0"/>
                        </a:rPr>
                        <a:t>Decisions</a:t>
                      </a:r>
                      <a:endParaRPr sz="1100" b="1" i="0">
                        <a:solidFill>
                          <a:srgbClr val="000000"/>
                        </a:solidFill>
                        <a:latin typeface="Arial Black" panose="020B0A04020102020204" charset="0"/>
                        <a:ea typeface="Inter"/>
                        <a:cs typeface="Arial Black" panose="020B0A04020102020204" charset="0"/>
                      </a:endParaRPr>
                    </a:p>
                  </a:txBody>
                  <a:tcPr marL="152717" marR="152717" marT="57467" marB="57467" anchor="ctr" anchorCtr="0"/>
                </a:tc>
                <a:tc>
                  <a:txBody>
                    <a:bodyPr/>
                    <a:p>
                      <a:pPr marL="0" indent="0" algn="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1" i="0">
                          <a:solidFill>
                            <a:srgbClr val="000000"/>
                          </a:solidFill>
                          <a:latin typeface="Arial Black" panose="020B0A04020102020204" charset="0"/>
                          <a:ea typeface="Inter"/>
                          <a:cs typeface="Arial Black" panose="020B0A04020102020204" charset="0"/>
                        </a:rPr>
                        <a:t>45</a:t>
                      </a:r>
                      <a:endParaRPr sz="1100" b="1" i="0">
                        <a:solidFill>
                          <a:srgbClr val="000000"/>
                        </a:solidFill>
                        <a:latin typeface="Arial Black" panose="020B0A04020102020204" charset="0"/>
                        <a:ea typeface="Inter"/>
                        <a:cs typeface="Arial Black" panose="020B0A04020102020204" charset="0"/>
                      </a:endParaRPr>
                    </a:p>
                  </a:txBody>
                  <a:tcPr marL="152717" marR="152717" marT="57467" marB="57467" anchor="ctr" anchorCtr="0"/>
                </a:tc>
              </a:tr>
              <a:tr h="377825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1" i="0">
                          <a:solidFill>
                            <a:srgbClr val="000000"/>
                          </a:solidFill>
                          <a:latin typeface="Arial Black" panose="020B0A04020102020204" charset="0"/>
                          <a:ea typeface="Inter"/>
                          <a:cs typeface="Arial Black" panose="020B0A04020102020204" charset="0"/>
                        </a:rPr>
                        <a:t>Determination</a:t>
                      </a:r>
                      <a:endParaRPr sz="1100" b="1" i="0">
                        <a:solidFill>
                          <a:srgbClr val="000000"/>
                        </a:solidFill>
                        <a:latin typeface="Arial Black" panose="020B0A04020102020204" charset="0"/>
                        <a:ea typeface="Inter"/>
                        <a:cs typeface="Arial Black" panose="020B0A04020102020204" charset="0"/>
                      </a:endParaRPr>
                    </a:p>
                  </a:txBody>
                  <a:tcPr marL="152717" marR="152717" marT="57467" marB="57467" anchor="ctr" anchorCtr="0"/>
                </a:tc>
                <a:tc>
                  <a:txBody>
                    <a:bodyPr/>
                    <a:p>
                      <a:pPr marL="0" indent="0" algn="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1" i="0">
                          <a:solidFill>
                            <a:srgbClr val="09182D"/>
                          </a:solidFill>
                          <a:latin typeface="Arial Black" panose="020B0A04020102020204" charset="0"/>
                          <a:ea typeface="Inter"/>
                          <a:cs typeface="Arial Black" panose="020B0A04020102020204" charset="0"/>
                        </a:rPr>
                        <a:t>60</a:t>
                      </a:r>
                      <a:endParaRPr sz="1100" b="1" i="0">
                        <a:solidFill>
                          <a:srgbClr val="09182D"/>
                        </a:solidFill>
                        <a:latin typeface="Arial Black" panose="020B0A04020102020204" charset="0"/>
                        <a:ea typeface="Inter"/>
                        <a:cs typeface="Arial Black" panose="020B0A04020102020204" charset="0"/>
                      </a:endParaRPr>
                    </a:p>
                  </a:txBody>
                  <a:tcPr marL="152717" marR="152717" marT="57467" marB="57467" anchor="ctr" anchorCtr="0"/>
                </a:tc>
              </a:tr>
              <a:tr h="377825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1" i="0">
                          <a:solidFill>
                            <a:srgbClr val="000000"/>
                          </a:solidFill>
                          <a:latin typeface="Arial Black" panose="020B0A04020102020204" charset="0"/>
                          <a:ea typeface="Inter"/>
                          <a:cs typeface="Arial Black" panose="020B0A04020102020204" charset="0"/>
                        </a:rPr>
                        <a:t>Flair</a:t>
                      </a:r>
                      <a:endParaRPr sz="1100" b="1" i="0">
                        <a:solidFill>
                          <a:srgbClr val="000000"/>
                        </a:solidFill>
                        <a:latin typeface="Arial Black" panose="020B0A04020102020204" charset="0"/>
                        <a:ea typeface="Inter"/>
                        <a:cs typeface="Arial Black" panose="020B0A04020102020204" charset="0"/>
                      </a:endParaRPr>
                    </a:p>
                  </a:txBody>
                  <a:tcPr marL="152717" marR="152717" marT="57467" marB="57467" anchor="ctr" anchorCtr="0"/>
                </a:tc>
                <a:tc>
                  <a:txBody>
                    <a:bodyPr/>
                    <a:p>
                      <a:pPr marL="0" indent="0" algn="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1" i="0">
                          <a:solidFill>
                            <a:srgbClr val="09182D"/>
                          </a:solidFill>
                          <a:latin typeface="Arial Black" panose="020B0A04020102020204" charset="0"/>
                          <a:ea typeface="Inter"/>
                          <a:cs typeface="Arial Black" panose="020B0A04020102020204" charset="0"/>
                        </a:rPr>
                        <a:t>65</a:t>
                      </a:r>
                      <a:endParaRPr sz="1100" b="1" i="0">
                        <a:solidFill>
                          <a:srgbClr val="09182D"/>
                        </a:solidFill>
                        <a:latin typeface="Arial Black" panose="020B0A04020102020204" charset="0"/>
                        <a:ea typeface="Inter"/>
                        <a:cs typeface="Arial Black" panose="020B0A04020102020204" charset="0"/>
                      </a:endParaRPr>
                    </a:p>
                  </a:txBody>
                  <a:tcPr marL="152717" marR="152717" marT="57467" marB="57467" anchor="ctr" anchorCtr="0"/>
                </a:tc>
              </a:tr>
              <a:tr h="377825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1" i="0">
                          <a:solidFill>
                            <a:srgbClr val="000000"/>
                          </a:solidFill>
                          <a:latin typeface="Arial Black" panose="020B0A04020102020204" charset="0"/>
                          <a:ea typeface="Inter"/>
                          <a:cs typeface="Arial Black" panose="020B0A04020102020204" charset="0"/>
                        </a:rPr>
                        <a:t>Leadership</a:t>
                      </a:r>
                      <a:endParaRPr sz="1100" b="1" i="0">
                        <a:solidFill>
                          <a:srgbClr val="000000"/>
                        </a:solidFill>
                        <a:latin typeface="Arial Black" panose="020B0A04020102020204" charset="0"/>
                        <a:ea typeface="Inter"/>
                        <a:cs typeface="Arial Black" panose="020B0A04020102020204" charset="0"/>
                      </a:endParaRPr>
                    </a:p>
                  </a:txBody>
                  <a:tcPr marL="152717" marR="152717" marT="57467" marB="57467" anchor="ctr" anchorCtr="0"/>
                </a:tc>
                <a:tc>
                  <a:txBody>
                    <a:bodyPr/>
                    <a:p>
                      <a:pPr marL="0" indent="0" algn="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1" i="0">
                          <a:solidFill>
                            <a:srgbClr val="000000"/>
                          </a:solidFill>
                          <a:latin typeface="Arial Black" panose="020B0A04020102020204" charset="0"/>
                          <a:ea typeface="Inter"/>
                          <a:cs typeface="Arial Black" panose="020B0A04020102020204" charset="0"/>
                        </a:rPr>
                        <a:t>35</a:t>
                      </a:r>
                      <a:endParaRPr sz="1100" b="1" i="0">
                        <a:solidFill>
                          <a:srgbClr val="000000"/>
                        </a:solidFill>
                        <a:latin typeface="Arial Black" panose="020B0A04020102020204" charset="0"/>
                        <a:ea typeface="Inter"/>
                        <a:cs typeface="Arial Black" panose="020B0A04020102020204" charset="0"/>
                      </a:endParaRPr>
                    </a:p>
                  </a:txBody>
                  <a:tcPr marL="152717" marR="152717" marT="57467" marB="57467" anchor="ctr" anchorCtr="0"/>
                </a:tc>
              </a:tr>
              <a:tr h="377825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1" i="0">
                          <a:solidFill>
                            <a:srgbClr val="000000"/>
                          </a:solidFill>
                          <a:latin typeface="Arial Black" panose="020B0A04020102020204" charset="0"/>
                          <a:ea typeface="Inter"/>
                          <a:cs typeface="Arial Black" panose="020B0A04020102020204" charset="0"/>
                        </a:rPr>
                        <a:t>Off the Ball</a:t>
                      </a:r>
                      <a:endParaRPr sz="1100" b="1" i="0">
                        <a:solidFill>
                          <a:srgbClr val="000000"/>
                        </a:solidFill>
                        <a:latin typeface="Arial Black" panose="020B0A04020102020204" charset="0"/>
                        <a:ea typeface="Inter"/>
                        <a:cs typeface="Arial Black" panose="020B0A04020102020204" charset="0"/>
                      </a:endParaRPr>
                    </a:p>
                  </a:txBody>
                  <a:tcPr marL="152717" marR="152717" marT="57467" marB="57467" anchor="ctr" anchorCtr="0"/>
                </a:tc>
                <a:tc>
                  <a:txBody>
                    <a:bodyPr/>
                    <a:p>
                      <a:pPr marL="0" indent="0" algn="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1" i="0">
                          <a:solidFill>
                            <a:srgbClr val="09182D"/>
                          </a:solidFill>
                          <a:latin typeface="Arial Black" panose="020B0A04020102020204" charset="0"/>
                          <a:ea typeface="Inter"/>
                          <a:cs typeface="Arial Black" panose="020B0A04020102020204" charset="0"/>
                        </a:rPr>
                        <a:t>65</a:t>
                      </a:r>
                      <a:endParaRPr sz="1100" b="1" i="0">
                        <a:solidFill>
                          <a:srgbClr val="09182D"/>
                        </a:solidFill>
                        <a:latin typeface="Arial Black" panose="020B0A04020102020204" charset="0"/>
                        <a:ea typeface="Inter"/>
                        <a:cs typeface="Arial Black" panose="020B0A04020102020204" charset="0"/>
                      </a:endParaRPr>
                    </a:p>
                  </a:txBody>
                  <a:tcPr marL="152717" marR="152717" marT="57467" marB="57467" anchor="ctr" anchorCtr="0"/>
                </a:tc>
              </a:tr>
              <a:tr h="377825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1" i="0">
                          <a:solidFill>
                            <a:srgbClr val="000000"/>
                          </a:solidFill>
                          <a:latin typeface="Arial Black" panose="020B0A04020102020204" charset="0"/>
                          <a:ea typeface="Inter"/>
                          <a:cs typeface="Arial Black" panose="020B0A04020102020204" charset="0"/>
                        </a:rPr>
                        <a:t>Positioning</a:t>
                      </a:r>
                      <a:endParaRPr sz="1100" b="1" i="0">
                        <a:solidFill>
                          <a:srgbClr val="000000"/>
                        </a:solidFill>
                        <a:latin typeface="Arial Black" panose="020B0A04020102020204" charset="0"/>
                        <a:ea typeface="Inter"/>
                        <a:cs typeface="Arial Black" panose="020B0A04020102020204" charset="0"/>
                      </a:endParaRPr>
                    </a:p>
                  </a:txBody>
                  <a:tcPr marL="152717" marR="152717" marT="57467" marB="57467" anchor="ctr" anchorCtr="0"/>
                </a:tc>
                <a:tc>
                  <a:txBody>
                    <a:bodyPr/>
                    <a:p>
                      <a:pPr marL="0" indent="0" algn="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1" i="0">
                          <a:solidFill>
                            <a:srgbClr val="000000"/>
                          </a:solidFill>
                          <a:latin typeface="Arial Black" panose="020B0A04020102020204" charset="0"/>
                          <a:ea typeface="Inter"/>
                          <a:cs typeface="Arial Black" panose="020B0A04020102020204" charset="0"/>
                        </a:rPr>
                        <a:t>45</a:t>
                      </a:r>
                      <a:endParaRPr sz="1100" b="1" i="0">
                        <a:solidFill>
                          <a:srgbClr val="000000"/>
                        </a:solidFill>
                        <a:latin typeface="Arial Black" panose="020B0A04020102020204" charset="0"/>
                        <a:ea typeface="Inter"/>
                        <a:cs typeface="Arial Black" panose="020B0A04020102020204" charset="0"/>
                      </a:endParaRPr>
                    </a:p>
                  </a:txBody>
                  <a:tcPr marL="152717" marR="152717" marT="57467" marB="57467" anchor="ctr" anchorCtr="0"/>
                </a:tc>
              </a:tr>
              <a:tr h="377825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1" i="0">
                          <a:solidFill>
                            <a:srgbClr val="000000"/>
                          </a:solidFill>
                          <a:latin typeface="Arial Black" panose="020B0A04020102020204" charset="0"/>
                          <a:ea typeface="Inter"/>
                          <a:cs typeface="Arial Black" panose="020B0A04020102020204" charset="0"/>
                        </a:rPr>
                        <a:t>Teamwork</a:t>
                      </a:r>
                      <a:endParaRPr sz="1100" b="1" i="0">
                        <a:solidFill>
                          <a:srgbClr val="000000"/>
                        </a:solidFill>
                        <a:latin typeface="Arial Black" panose="020B0A04020102020204" charset="0"/>
                        <a:ea typeface="Inter"/>
                        <a:cs typeface="Arial Black" panose="020B0A04020102020204" charset="0"/>
                      </a:endParaRPr>
                    </a:p>
                  </a:txBody>
                  <a:tcPr marL="152717" marR="152717" marT="57467" marB="57467" anchor="ctr" anchorCtr="0"/>
                </a:tc>
                <a:tc>
                  <a:txBody>
                    <a:bodyPr/>
                    <a:p>
                      <a:pPr marL="0" indent="0" algn="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1" i="0">
                          <a:solidFill>
                            <a:srgbClr val="09182D"/>
                          </a:solidFill>
                          <a:latin typeface="Arial Black" panose="020B0A04020102020204" charset="0"/>
                          <a:ea typeface="Inter"/>
                          <a:cs typeface="Arial Black" panose="020B0A04020102020204" charset="0"/>
                        </a:rPr>
                        <a:t>60</a:t>
                      </a:r>
                      <a:endParaRPr sz="1100" b="1" i="0">
                        <a:solidFill>
                          <a:srgbClr val="09182D"/>
                        </a:solidFill>
                        <a:latin typeface="Arial Black" panose="020B0A04020102020204" charset="0"/>
                        <a:ea typeface="Inter"/>
                        <a:cs typeface="Arial Black" panose="020B0A04020102020204" charset="0"/>
                      </a:endParaRPr>
                    </a:p>
                  </a:txBody>
                  <a:tcPr marL="152717" marR="152717" marT="57467" marB="57467" anchor="ctr" anchorCtr="0"/>
                </a:tc>
              </a:tr>
              <a:tr h="377825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1" i="0">
                          <a:solidFill>
                            <a:srgbClr val="000000"/>
                          </a:solidFill>
                          <a:latin typeface="Arial Black" panose="020B0A04020102020204" charset="0"/>
                          <a:ea typeface="Inter"/>
                          <a:cs typeface="Arial Black" panose="020B0A04020102020204" charset="0"/>
                        </a:rPr>
                        <a:t>Vision</a:t>
                      </a:r>
                      <a:endParaRPr sz="1100" b="1" i="0">
                        <a:solidFill>
                          <a:srgbClr val="000000"/>
                        </a:solidFill>
                        <a:latin typeface="Arial Black" panose="020B0A04020102020204" charset="0"/>
                        <a:ea typeface="Inter"/>
                        <a:cs typeface="Arial Black" panose="020B0A04020102020204" charset="0"/>
                      </a:endParaRPr>
                    </a:p>
                  </a:txBody>
                  <a:tcPr marL="152717" marR="152717" marT="57467" marB="57467" anchor="ctr" anchorCtr="0"/>
                </a:tc>
                <a:tc>
                  <a:txBody>
                    <a:bodyPr/>
                    <a:p>
                      <a:pPr marL="0" indent="0" algn="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1" i="0">
                          <a:solidFill>
                            <a:srgbClr val="000000"/>
                          </a:solidFill>
                          <a:latin typeface="Arial Black" panose="020B0A04020102020204" charset="0"/>
                          <a:ea typeface="Inter"/>
                          <a:cs typeface="Arial Black" panose="020B0A04020102020204" charset="0"/>
                        </a:rPr>
                        <a:t>50</a:t>
                      </a:r>
                      <a:endParaRPr sz="1100" b="1" i="0">
                        <a:solidFill>
                          <a:srgbClr val="000000"/>
                        </a:solidFill>
                        <a:latin typeface="Arial Black" panose="020B0A04020102020204" charset="0"/>
                        <a:ea typeface="Inter"/>
                        <a:cs typeface="Arial Black" panose="020B0A04020102020204" charset="0"/>
                      </a:endParaRPr>
                    </a:p>
                  </a:txBody>
                  <a:tcPr marL="152717" marR="152717" marT="57467" marB="57467" anchor="ctr" anchorCtr="0"/>
                </a:tc>
              </a:tr>
              <a:tr h="377825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1" i="0">
                          <a:solidFill>
                            <a:srgbClr val="000000"/>
                          </a:solidFill>
                          <a:latin typeface="Arial Black" panose="020B0A04020102020204" charset="0"/>
                          <a:ea typeface="Inter"/>
                          <a:cs typeface="Arial Black" panose="020B0A04020102020204" charset="0"/>
                        </a:rPr>
                        <a:t>Work Rate</a:t>
                      </a:r>
                      <a:endParaRPr sz="1100" b="1" i="0">
                        <a:solidFill>
                          <a:srgbClr val="000000"/>
                        </a:solidFill>
                        <a:latin typeface="Arial Black" panose="020B0A04020102020204" charset="0"/>
                        <a:ea typeface="Inter"/>
                        <a:cs typeface="Arial Black" panose="020B0A04020102020204" charset="0"/>
                      </a:endParaRPr>
                    </a:p>
                  </a:txBody>
                  <a:tcPr marL="152717" marR="152717" marT="57467" marB="57467" anchor="ctr" anchorCtr="0"/>
                </a:tc>
                <a:tc>
                  <a:txBody>
                    <a:bodyPr/>
                    <a:p>
                      <a:pPr marL="0" indent="0" algn="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1" i="0">
                          <a:solidFill>
                            <a:srgbClr val="09182D"/>
                          </a:solidFill>
                          <a:latin typeface="Arial Black" panose="020B0A04020102020204" charset="0"/>
                          <a:ea typeface="Inter"/>
                          <a:cs typeface="Arial Black" panose="020B0A04020102020204" charset="0"/>
                        </a:rPr>
                        <a:t>60</a:t>
                      </a:r>
                      <a:endParaRPr sz="1100" b="1" i="0">
                        <a:solidFill>
                          <a:srgbClr val="09182D"/>
                        </a:solidFill>
                        <a:latin typeface="Arial Black" panose="020B0A04020102020204" charset="0"/>
                        <a:ea typeface="Inter"/>
                        <a:cs typeface="Arial Black" panose="020B0A04020102020204" charset="0"/>
                      </a:endParaRPr>
                    </a:p>
                  </a:txBody>
                  <a:tcPr marL="152717" marR="152717" marT="57467" marB="57467" anchor="ctr" anchorCtr="0"/>
                </a:tc>
              </a:tr>
            </a:tbl>
          </a:graphicData>
        </a:graphic>
      </p:graphicFrame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519410" y="1174750"/>
            <a:ext cx="1062990" cy="4953000"/>
          </a:xfrm>
        </p:spPr>
        <p:txBody>
          <a:bodyPr/>
          <a:p>
            <a:pPr marL="0" indent="0">
              <a:buNone/>
            </a:pPr>
            <a:r>
              <a:rPr lang="it-IT" altLang="en-US"/>
              <a:t>  </a:t>
            </a:r>
            <a:endParaRPr lang="it-IT" altLang="en-US"/>
          </a:p>
        </p:txBody>
      </p:sp>
      <p:pic>
        <p:nvPicPr>
          <p:cNvPr id="6" name="Content Placeholder 5" descr="91156155 (2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2990" y="5876290"/>
            <a:ext cx="969010" cy="98171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randomBar dir="vert"/>
      </p:transition>
    </mc:Choice>
    <mc:Fallback>
      <p:transition spd="slow">
        <p:randomBar dir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it-IT" altLang="en-US"/>
              <a:t> </a:t>
            </a:r>
            <a:endParaRPr lang="it-IT" altLang="en-US"/>
          </a:p>
        </p:txBody>
      </p:sp>
      <p:graphicFrame>
        <p:nvGraphicFramePr>
          <p:cNvPr id="5" name="Content Placeholder 4"/>
          <p:cNvGraphicFramePr/>
          <p:nvPr>
            <p:ph sz="half" idx="1"/>
          </p:nvPr>
        </p:nvGraphicFramePr>
        <p:xfrm>
          <a:off x="609600" y="317500"/>
          <a:ext cx="10906760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3380"/>
                <a:gridCol w="5453380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TECHNICAL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1" i="0">
                          <a:solidFill>
                            <a:srgbClr val="000000"/>
                          </a:solidFill>
                          <a:latin typeface="Arial Black" panose="020B0A04020102020204" charset="0"/>
                          <a:ea typeface="Inter"/>
                          <a:cs typeface="Arial Black" panose="020B0A04020102020204" charset="0"/>
                        </a:rPr>
                        <a:t>Corners</a:t>
                      </a:r>
                      <a:endParaRPr sz="1100" b="1" i="0">
                        <a:solidFill>
                          <a:srgbClr val="000000"/>
                        </a:solidFill>
                        <a:latin typeface="Arial Black" panose="020B0A04020102020204" charset="0"/>
                        <a:ea typeface="Inter"/>
                        <a:cs typeface="Arial Black" panose="020B0A04020102020204" charset="0"/>
                      </a:endParaRPr>
                    </a:p>
                  </a:txBody>
                  <a:tcPr marL="152717" marR="152717" marT="57467" marB="57467" anchor="ctr" anchorCtr="0"/>
                </a:tc>
                <a:tc>
                  <a:txBody>
                    <a:bodyPr/>
                    <a:p>
                      <a:pPr marL="0" indent="0" algn="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1" i="0">
                          <a:solidFill>
                            <a:srgbClr val="000000"/>
                          </a:solidFill>
                          <a:latin typeface="Arial Black" panose="020B0A04020102020204" charset="0"/>
                          <a:ea typeface="Inter"/>
                          <a:cs typeface="Arial Black" panose="020B0A04020102020204" charset="0"/>
                        </a:rPr>
                        <a:t>50</a:t>
                      </a:r>
                      <a:endParaRPr sz="1100" b="1" i="0">
                        <a:solidFill>
                          <a:srgbClr val="000000"/>
                        </a:solidFill>
                        <a:latin typeface="Arial Black" panose="020B0A04020102020204" charset="0"/>
                        <a:ea typeface="Inter"/>
                        <a:cs typeface="Arial Black" panose="020B0A04020102020204" charset="0"/>
                      </a:endParaRPr>
                    </a:p>
                  </a:txBody>
                  <a:tcPr marL="152717" marR="152717" marT="57467" marB="57467" anchor="ctr" anchorCtr="0"/>
                </a:tc>
              </a:tr>
              <a:tr h="36576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1" i="0">
                          <a:solidFill>
                            <a:srgbClr val="000000"/>
                          </a:solidFill>
                          <a:latin typeface="Arial Black" panose="020B0A04020102020204" charset="0"/>
                          <a:ea typeface="Inter"/>
                          <a:cs typeface="Arial Black" panose="020B0A04020102020204" charset="0"/>
                        </a:rPr>
                        <a:t>Crossing</a:t>
                      </a:r>
                      <a:endParaRPr sz="1100" b="1" i="0">
                        <a:solidFill>
                          <a:srgbClr val="000000"/>
                        </a:solidFill>
                        <a:latin typeface="Arial Black" panose="020B0A04020102020204" charset="0"/>
                        <a:ea typeface="Inter"/>
                        <a:cs typeface="Arial Black" panose="020B0A04020102020204" charset="0"/>
                      </a:endParaRPr>
                    </a:p>
                  </a:txBody>
                  <a:tcPr marL="152717" marR="152717" marT="57467" marB="57467" anchor="ctr" anchorCtr="0"/>
                </a:tc>
                <a:tc>
                  <a:txBody>
                    <a:bodyPr/>
                    <a:p>
                      <a:pPr marL="0" indent="0" algn="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1" i="0">
                          <a:solidFill>
                            <a:srgbClr val="09182D"/>
                          </a:solidFill>
                          <a:latin typeface="Arial Black" panose="020B0A04020102020204" charset="0"/>
                          <a:ea typeface="Inter"/>
                          <a:cs typeface="Arial Black" panose="020B0A04020102020204" charset="0"/>
                        </a:rPr>
                        <a:t>60</a:t>
                      </a:r>
                      <a:endParaRPr sz="1100" b="1" i="0">
                        <a:solidFill>
                          <a:srgbClr val="09182D"/>
                        </a:solidFill>
                        <a:latin typeface="Arial Black" panose="020B0A04020102020204" charset="0"/>
                        <a:ea typeface="Inter"/>
                        <a:cs typeface="Arial Black" panose="020B0A04020102020204" charset="0"/>
                      </a:endParaRPr>
                    </a:p>
                  </a:txBody>
                  <a:tcPr marL="152717" marR="152717" marT="57467" marB="57467" anchor="ctr" anchorCtr="0"/>
                </a:tc>
              </a:tr>
              <a:tr h="36576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1" i="0">
                          <a:solidFill>
                            <a:srgbClr val="000000"/>
                          </a:solidFill>
                          <a:latin typeface="Arial Black" panose="020B0A04020102020204" charset="0"/>
                          <a:ea typeface="Inter"/>
                          <a:cs typeface="Arial Black" panose="020B0A04020102020204" charset="0"/>
                        </a:rPr>
                        <a:t>Dribbling</a:t>
                      </a:r>
                      <a:endParaRPr sz="1100" b="1" i="0">
                        <a:solidFill>
                          <a:srgbClr val="000000"/>
                        </a:solidFill>
                        <a:latin typeface="Arial Black" panose="020B0A04020102020204" charset="0"/>
                        <a:ea typeface="Inter"/>
                        <a:cs typeface="Arial Black" panose="020B0A04020102020204" charset="0"/>
                      </a:endParaRPr>
                    </a:p>
                  </a:txBody>
                  <a:tcPr marL="152717" marR="152717" marT="57467" marB="57467" anchor="ctr" anchorCtr="0"/>
                </a:tc>
                <a:tc>
                  <a:txBody>
                    <a:bodyPr/>
                    <a:p>
                      <a:pPr marL="0" indent="0" algn="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1" i="0">
                          <a:solidFill>
                            <a:srgbClr val="09182D"/>
                          </a:solidFill>
                          <a:latin typeface="Arial Black" panose="020B0A04020102020204" charset="0"/>
                          <a:ea typeface="Inter"/>
                          <a:cs typeface="Arial Black" panose="020B0A04020102020204" charset="0"/>
                        </a:rPr>
                        <a:t>60</a:t>
                      </a:r>
                      <a:endParaRPr sz="1100" b="1" i="0">
                        <a:solidFill>
                          <a:srgbClr val="09182D"/>
                        </a:solidFill>
                        <a:latin typeface="Arial Black" panose="020B0A04020102020204" charset="0"/>
                        <a:ea typeface="Inter"/>
                        <a:cs typeface="Arial Black" panose="020B0A04020102020204" charset="0"/>
                      </a:endParaRPr>
                    </a:p>
                  </a:txBody>
                  <a:tcPr marL="152717" marR="152717" marT="57467" marB="57467" anchor="ctr" anchorCtr="0"/>
                </a:tc>
              </a:tr>
              <a:tr h="36576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1" i="0">
                          <a:solidFill>
                            <a:srgbClr val="000000"/>
                          </a:solidFill>
                          <a:latin typeface="Arial Black" panose="020B0A04020102020204" charset="0"/>
                          <a:ea typeface="Inter"/>
                          <a:cs typeface="Arial Black" panose="020B0A04020102020204" charset="0"/>
                        </a:rPr>
                        <a:t>Finishing</a:t>
                      </a:r>
                      <a:endParaRPr sz="1100" b="1" i="0">
                        <a:solidFill>
                          <a:srgbClr val="000000"/>
                        </a:solidFill>
                        <a:latin typeface="Arial Black" panose="020B0A04020102020204" charset="0"/>
                        <a:ea typeface="Inter"/>
                        <a:cs typeface="Arial Black" panose="020B0A04020102020204" charset="0"/>
                      </a:endParaRPr>
                    </a:p>
                  </a:txBody>
                  <a:tcPr marL="152717" marR="152717" marT="57467" marB="57467" anchor="ctr" anchorCtr="0"/>
                </a:tc>
                <a:tc>
                  <a:txBody>
                    <a:bodyPr/>
                    <a:p>
                      <a:pPr marL="0" indent="0" algn="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1" i="0">
                          <a:solidFill>
                            <a:srgbClr val="000000"/>
                          </a:solidFill>
                          <a:latin typeface="Arial Black" panose="020B0A04020102020204" charset="0"/>
                          <a:ea typeface="Inter"/>
                          <a:cs typeface="Arial Black" panose="020B0A04020102020204" charset="0"/>
                        </a:rPr>
                        <a:t>50</a:t>
                      </a:r>
                      <a:endParaRPr sz="1100" b="1" i="0">
                        <a:solidFill>
                          <a:srgbClr val="000000"/>
                        </a:solidFill>
                        <a:latin typeface="Arial Black" panose="020B0A04020102020204" charset="0"/>
                        <a:ea typeface="Inter"/>
                        <a:cs typeface="Arial Black" panose="020B0A04020102020204" charset="0"/>
                      </a:endParaRPr>
                    </a:p>
                  </a:txBody>
                  <a:tcPr marL="152717" marR="152717" marT="57467" marB="57467" anchor="ctr" anchorCtr="0"/>
                </a:tc>
              </a:tr>
              <a:tr h="36576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1" i="0">
                          <a:solidFill>
                            <a:srgbClr val="000000"/>
                          </a:solidFill>
                          <a:latin typeface="Arial Black" panose="020B0A04020102020204" charset="0"/>
                          <a:ea typeface="Inter"/>
                          <a:cs typeface="Arial Black" panose="020B0A04020102020204" charset="0"/>
                        </a:rPr>
                        <a:t>First Touch</a:t>
                      </a:r>
                      <a:endParaRPr sz="1100" b="1" i="0">
                        <a:solidFill>
                          <a:srgbClr val="000000"/>
                        </a:solidFill>
                        <a:latin typeface="Arial Black" panose="020B0A04020102020204" charset="0"/>
                        <a:ea typeface="Inter"/>
                        <a:cs typeface="Arial Black" panose="020B0A04020102020204" charset="0"/>
                      </a:endParaRPr>
                    </a:p>
                  </a:txBody>
                  <a:tcPr marL="152717" marR="152717" marT="57467" marB="57467" anchor="ctr" anchorCtr="0"/>
                </a:tc>
                <a:tc>
                  <a:txBody>
                    <a:bodyPr/>
                    <a:p>
                      <a:pPr marL="0" indent="0" algn="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1" i="0">
                          <a:solidFill>
                            <a:srgbClr val="09182D"/>
                          </a:solidFill>
                          <a:latin typeface="Arial Black" panose="020B0A04020102020204" charset="0"/>
                          <a:ea typeface="Inter"/>
                          <a:cs typeface="Arial Black" panose="020B0A04020102020204" charset="0"/>
                        </a:rPr>
                        <a:t>55</a:t>
                      </a:r>
                      <a:endParaRPr sz="1100" b="1" i="0">
                        <a:solidFill>
                          <a:srgbClr val="09182D"/>
                        </a:solidFill>
                        <a:latin typeface="Arial Black" panose="020B0A04020102020204" charset="0"/>
                        <a:ea typeface="Inter"/>
                        <a:cs typeface="Arial Black" panose="020B0A04020102020204" charset="0"/>
                      </a:endParaRPr>
                    </a:p>
                  </a:txBody>
                  <a:tcPr marL="152717" marR="152717" marT="57467" marB="57467" anchor="ctr" anchorCtr="0"/>
                </a:tc>
              </a:tr>
              <a:tr h="36576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1" i="0">
                          <a:solidFill>
                            <a:srgbClr val="000000"/>
                          </a:solidFill>
                          <a:latin typeface="Arial Black" panose="020B0A04020102020204" charset="0"/>
                          <a:ea typeface="Inter"/>
                          <a:cs typeface="Arial Black" panose="020B0A04020102020204" charset="0"/>
                        </a:rPr>
                        <a:t>Free Kick Taking</a:t>
                      </a:r>
                      <a:endParaRPr sz="1100" b="1" i="0">
                        <a:solidFill>
                          <a:srgbClr val="000000"/>
                        </a:solidFill>
                        <a:latin typeface="Arial Black" panose="020B0A04020102020204" charset="0"/>
                        <a:ea typeface="Inter"/>
                        <a:cs typeface="Arial Black" panose="020B0A04020102020204" charset="0"/>
                      </a:endParaRPr>
                    </a:p>
                  </a:txBody>
                  <a:tcPr marL="152717" marR="152717" marT="57467" marB="57467" anchor="ctr" anchorCtr="0"/>
                </a:tc>
                <a:tc>
                  <a:txBody>
                    <a:bodyPr/>
                    <a:p>
                      <a:pPr marL="0" indent="0" algn="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1" i="0">
                          <a:solidFill>
                            <a:srgbClr val="000000"/>
                          </a:solidFill>
                          <a:latin typeface="Arial Black" panose="020B0A04020102020204" charset="0"/>
                          <a:ea typeface="Inter"/>
                          <a:cs typeface="Arial Black" panose="020B0A04020102020204" charset="0"/>
                        </a:rPr>
                        <a:t>50</a:t>
                      </a:r>
                      <a:endParaRPr sz="1100" b="1" i="0">
                        <a:solidFill>
                          <a:srgbClr val="000000"/>
                        </a:solidFill>
                        <a:latin typeface="Arial Black" panose="020B0A04020102020204" charset="0"/>
                        <a:ea typeface="Inter"/>
                        <a:cs typeface="Arial Black" panose="020B0A04020102020204" charset="0"/>
                      </a:endParaRPr>
                    </a:p>
                  </a:txBody>
                  <a:tcPr marL="152717" marR="152717" marT="57467" marB="57467" anchor="ctr" anchorCtr="0"/>
                </a:tc>
              </a:tr>
              <a:tr h="36576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1" i="0">
                          <a:solidFill>
                            <a:srgbClr val="000000"/>
                          </a:solidFill>
                          <a:latin typeface="Arial Black" panose="020B0A04020102020204" charset="0"/>
                          <a:ea typeface="Inter"/>
                          <a:cs typeface="Arial Black" panose="020B0A04020102020204" charset="0"/>
                        </a:rPr>
                        <a:t>Heading</a:t>
                      </a:r>
                      <a:endParaRPr sz="1100" b="1" i="0">
                        <a:solidFill>
                          <a:srgbClr val="000000"/>
                        </a:solidFill>
                        <a:latin typeface="Arial Black" panose="020B0A04020102020204" charset="0"/>
                        <a:ea typeface="Inter"/>
                        <a:cs typeface="Arial Black" panose="020B0A04020102020204" charset="0"/>
                      </a:endParaRPr>
                    </a:p>
                  </a:txBody>
                  <a:tcPr marL="152717" marR="152717" marT="57467" marB="57467" anchor="ctr" anchorCtr="0"/>
                </a:tc>
                <a:tc>
                  <a:txBody>
                    <a:bodyPr/>
                    <a:p>
                      <a:pPr marL="0" indent="0" algn="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1" i="0">
                          <a:solidFill>
                            <a:srgbClr val="000000"/>
                          </a:solidFill>
                          <a:latin typeface="Arial Black" panose="020B0A04020102020204" charset="0"/>
                          <a:ea typeface="Inter"/>
                          <a:cs typeface="Arial Black" panose="020B0A04020102020204" charset="0"/>
                        </a:rPr>
                        <a:t>40</a:t>
                      </a:r>
                      <a:endParaRPr sz="1100" b="1" i="0">
                        <a:solidFill>
                          <a:srgbClr val="000000"/>
                        </a:solidFill>
                        <a:latin typeface="Arial Black" panose="020B0A04020102020204" charset="0"/>
                        <a:ea typeface="Inter"/>
                        <a:cs typeface="Arial Black" panose="020B0A04020102020204" charset="0"/>
                      </a:endParaRPr>
                    </a:p>
                  </a:txBody>
                  <a:tcPr marL="152717" marR="152717" marT="57467" marB="57467" anchor="ctr" anchorCtr="0"/>
                </a:tc>
              </a:tr>
              <a:tr h="36576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1" i="0">
                          <a:solidFill>
                            <a:srgbClr val="000000"/>
                          </a:solidFill>
                          <a:latin typeface="Arial Black" panose="020B0A04020102020204" charset="0"/>
                          <a:ea typeface="Inter"/>
                          <a:cs typeface="Arial Black" panose="020B0A04020102020204" charset="0"/>
                        </a:rPr>
                        <a:t>Long Shots</a:t>
                      </a:r>
                      <a:endParaRPr sz="1100" b="1" i="0">
                        <a:solidFill>
                          <a:srgbClr val="000000"/>
                        </a:solidFill>
                        <a:latin typeface="Arial Black" panose="020B0A04020102020204" charset="0"/>
                        <a:ea typeface="Inter"/>
                        <a:cs typeface="Arial Black" panose="020B0A04020102020204" charset="0"/>
                      </a:endParaRPr>
                    </a:p>
                  </a:txBody>
                  <a:tcPr marL="152717" marR="152717" marT="57467" marB="57467" anchor="ctr" anchorCtr="0"/>
                </a:tc>
                <a:tc>
                  <a:txBody>
                    <a:bodyPr/>
                    <a:p>
                      <a:pPr marL="0" indent="0" algn="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1" i="0">
                          <a:solidFill>
                            <a:srgbClr val="000000"/>
                          </a:solidFill>
                          <a:latin typeface="Arial Black" panose="020B0A04020102020204" charset="0"/>
                          <a:ea typeface="Inter"/>
                          <a:cs typeface="Arial Black" panose="020B0A04020102020204" charset="0"/>
                        </a:rPr>
                        <a:t>40</a:t>
                      </a:r>
                      <a:endParaRPr sz="1100" b="1" i="0">
                        <a:solidFill>
                          <a:srgbClr val="000000"/>
                        </a:solidFill>
                        <a:latin typeface="Arial Black" panose="020B0A04020102020204" charset="0"/>
                        <a:ea typeface="Inter"/>
                        <a:cs typeface="Arial Black" panose="020B0A04020102020204" charset="0"/>
                      </a:endParaRPr>
                    </a:p>
                  </a:txBody>
                  <a:tcPr marL="152717" marR="152717" marT="57467" marB="57467" anchor="ctr" anchorCtr="0"/>
                </a:tc>
              </a:tr>
              <a:tr h="36576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1" i="0">
                          <a:solidFill>
                            <a:srgbClr val="000000"/>
                          </a:solidFill>
                          <a:latin typeface="Arial Black" panose="020B0A04020102020204" charset="0"/>
                          <a:ea typeface="Inter"/>
                          <a:cs typeface="Arial Black" panose="020B0A04020102020204" charset="0"/>
                        </a:rPr>
                        <a:t>Long Throws</a:t>
                      </a:r>
                      <a:endParaRPr sz="1100" b="1" i="0">
                        <a:solidFill>
                          <a:srgbClr val="000000"/>
                        </a:solidFill>
                        <a:latin typeface="Arial Black" panose="020B0A04020102020204" charset="0"/>
                        <a:ea typeface="Inter"/>
                        <a:cs typeface="Arial Black" panose="020B0A04020102020204" charset="0"/>
                      </a:endParaRPr>
                    </a:p>
                  </a:txBody>
                  <a:tcPr marL="152717" marR="152717" marT="57467" marB="57467" anchor="ctr" anchorCtr="0"/>
                </a:tc>
                <a:tc>
                  <a:txBody>
                    <a:bodyPr/>
                    <a:p>
                      <a:pPr marL="0" indent="0" algn="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1" i="0">
                          <a:solidFill>
                            <a:srgbClr val="000000"/>
                          </a:solidFill>
                          <a:latin typeface="Arial Black" panose="020B0A04020102020204" charset="0"/>
                          <a:ea typeface="Inter"/>
                          <a:cs typeface="Arial Black" panose="020B0A04020102020204" charset="0"/>
                        </a:rPr>
                        <a:t>35</a:t>
                      </a:r>
                      <a:endParaRPr sz="1100" b="1" i="0">
                        <a:solidFill>
                          <a:srgbClr val="000000"/>
                        </a:solidFill>
                        <a:latin typeface="Arial Black" panose="020B0A04020102020204" charset="0"/>
                        <a:ea typeface="Inter"/>
                        <a:cs typeface="Arial Black" panose="020B0A04020102020204" charset="0"/>
                      </a:endParaRPr>
                    </a:p>
                  </a:txBody>
                  <a:tcPr marL="152717" marR="152717" marT="57467" marB="57467" anchor="ctr" anchorCtr="0"/>
                </a:tc>
              </a:tr>
              <a:tr h="36576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1" i="0">
                          <a:solidFill>
                            <a:srgbClr val="000000"/>
                          </a:solidFill>
                          <a:latin typeface="Arial Black" panose="020B0A04020102020204" charset="0"/>
                          <a:ea typeface="Inter"/>
                          <a:cs typeface="Arial Black" panose="020B0A04020102020204" charset="0"/>
                        </a:rPr>
                        <a:t>Marking</a:t>
                      </a:r>
                      <a:endParaRPr sz="1100" b="1" i="0">
                        <a:solidFill>
                          <a:srgbClr val="000000"/>
                        </a:solidFill>
                        <a:latin typeface="Arial Black" panose="020B0A04020102020204" charset="0"/>
                        <a:ea typeface="Inter"/>
                        <a:cs typeface="Arial Black" panose="020B0A04020102020204" charset="0"/>
                      </a:endParaRPr>
                    </a:p>
                  </a:txBody>
                  <a:tcPr marL="152717" marR="152717" marT="57467" marB="57467" anchor="ctr" anchorCtr="0"/>
                </a:tc>
                <a:tc>
                  <a:txBody>
                    <a:bodyPr/>
                    <a:p>
                      <a:pPr marL="0" indent="0" algn="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1" i="0">
                          <a:solidFill>
                            <a:srgbClr val="000000"/>
                          </a:solidFill>
                          <a:latin typeface="Arial Black" panose="020B0A04020102020204" charset="0"/>
                          <a:ea typeface="Inter"/>
                          <a:cs typeface="Arial Black" panose="020B0A04020102020204" charset="0"/>
                        </a:rPr>
                        <a:t>45</a:t>
                      </a:r>
                      <a:endParaRPr sz="1100" b="1" i="0">
                        <a:solidFill>
                          <a:srgbClr val="000000"/>
                        </a:solidFill>
                        <a:latin typeface="Arial Black" panose="020B0A04020102020204" charset="0"/>
                        <a:ea typeface="Inter"/>
                        <a:cs typeface="Arial Black" panose="020B0A04020102020204" charset="0"/>
                      </a:endParaRPr>
                    </a:p>
                  </a:txBody>
                  <a:tcPr marL="152717" marR="152717" marT="57467" marB="57467" anchor="ctr" anchorCtr="0"/>
                </a:tc>
              </a:tr>
              <a:tr h="36576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1" i="0">
                          <a:solidFill>
                            <a:srgbClr val="000000"/>
                          </a:solidFill>
                          <a:latin typeface="Arial Black" panose="020B0A04020102020204" charset="0"/>
                          <a:ea typeface="Inter"/>
                          <a:cs typeface="Arial Black" panose="020B0A04020102020204" charset="0"/>
                        </a:rPr>
                        <a:t>Passing</a:t>
                      </a:r>
                      <a:endParaRPr sz="1100" b="1" i="0">
                        <a:solidFill>
                          <a:srgbClr val="000000"/>
                        </a:solidFill>
                        <a:latin typeface="Arial Black" panose="020B0A04020102020204" charset="0"/>
                        <a:ea typeface="Inter"/>
                        <a:cs typeface="Arial Black" panose="020B0A04020102020204" charset="0"/>
                      </a:endParaRPr>
                    </a:p>
                  </a:txBody>
                  <a:tcPr marL="152717" marR="152717" marT="57467" marB="57467" anchor="ctr" anchorCtr="0"/>
                </a:tc>
                <a:tc>
                  <a:txBody>
                    <a:bodyPr/>
                    <a:p>
                      <a:pPr marL="0" indent="0" algn="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1" i="0">
                          <a:solidFill>
                            <a:srgbClr val="09182D"/>
                          </a:solidFill>
                          <a:latin typeface="Arial Black" panose="020B0A04020102020204" charset="0"/>
                          <a:ea typeface="Inter"/>
                          <a:cs typeface="Arial Black" panose="020B0A04020102020204" charset="0"/>
                        </a:rPr>
                        <a:t>55</a:t>
                      </a:r>
                      <a:endParaRPr sz="1100" b="1" i="0">
                        <a:solidFill>
                          <a:srgbClr val="09182D"/>
                        </a:solidFill>
                        <a:latin typeface="Arial Black" panose="020B0A04020102020204" charset="0"/>
                        <a:ea typeface="Inter"/>
                        <a:cs typeface="Arial Black" panose="020B0A04020102020204" charset="0"/>
                      </a:endParaRPr>
                    </a:p>
                  </a:txBody>
                  <a:tcPr marL="152717" marR="152717" marT="57467" marB="57467" anchor="ctr" anchorCtr="0"/>
                </a:tc>
              </a:tr>
              <a:tr h="36576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1" i="0">
                          <a:solidFill>
                            <a:srgbClr val="000000"/>
                          </a:solidFill>
                          <a:latin typeface="Arial Black" panose="020B0A04020102020204" charset="0"/>
                          <a:ea typeface="Inter"/>
                          <a:cs typeface="Arial Black" panose="020B0A04020102020204" charset="0"/>
                        </a:rPr>
                        <a:t>Penalty Taking</a:t>
                      </a:r>
                      <a:endParaRPr sz="1100" b="1" i="0">
                        <a:solidFill>
                          <a:srgbClr val="000000"/>
                        </a:solidFill>
                        <a:latin typeface="Arial Black" panose="020B0A04020102020204" charset="0"/>
                        <a:ea typeface="Inter"/>
                        <a:cs typeface="Arial Black" panose="020B0A04020102020204" charset="0"/>
                      </a:endParaRPr>
                    </a:p>
                  </a:txBody>
                  <a:tcPr marL="152717" marR="152717" marT="57467" marB="57467" anchor="ctr" anchorCtr="0"/>
                </a:tc>
                <a:tc>
                  <a:txBody>
                    <a:bodyPr/>
                    <a:p>
                      <a:pPr marL="0" indent="0" algn="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1" i="0">
                          <a:solidFill>
                            <a:srgbClr val="000000"/>
                          </a:solidFill>
                          <a:latin typeface="Arial Black" panose="020B0A04020102020204" charset="0"/>
                          <a:ea typeface="Inter"/>
                          <a:cs typeface="Arial Black" panose="020B0A04020102020204" charset="0"/>
                        </a:rPr>
                        <a:t>50</a:t>
                      </a:r>
                      <a:endParaRPr sz="1100" b="1" i="0">
                        <a:solidFill>
                          <a:srgbClr val="000000"/>
                        </a:solidFill>
                        <a:latin typeface="Arial Black" panose="020B0A04020102020204" charset="0"/>
                        <a:ea typeface="Inter"/>
                        <a:cs typeface="Arial Black" panose="020B0A04020102020204" charset="0"/>
                      </a:endParaRPr>
                    </a:p>
                  </a:txBody>
                  <a:tcPr marL="152717" marR="152717" marT="57467" marB="57467" anchor="ctr" anchorCtr="0"/>
                </a:tc>
              </a:tr>
              <a:tr h="36576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1" i="0">
                          <a:solidFill>
                            <a:srgbClr val="000000"/>
                          </a:solidFill>
                          <a:latin typeface="Arial Black" panose="020B0A04020102020204" charset="0"/>
                          <a:ea typeface="Inter"/>
                          <a:cs typeface="Arial Black" panose="020B0A04020102020204" charset="0"/>
                        </a:rPr>
                        <a:t>Tackling</a:t>
                      </a:r>
                      <a:endParaRPr sz="1100" b="1" i="0">
                        <a:solidFill>
                          <a:srgbClr val="000000"/>
                        </a:solidFill>
                        <a:latin typeface="Arial Black" panose="020B0A04020102020204" charset="0"/>
                        <a:ea typeface="Inter"/>
                        <a:cs typeface="Arial Black" panose="020B0A04020102020204" charset="0"/>
                      </a:endParaRPr>
                    </a:p>
                  </a:txBody>
                  <a:tcPr marL="152717" marR="152717" marT="57467" marB="57467" anchor="ctr" anchorCtr="0"/>
                </a:tc>
                <a:tc>
                  <a:txBody>
                    <a:bodyPr/>
                    <a:p>
                      <a:pPr marL="0" indent="0" algn="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1" i="0">
                          <a:solidFill>
                            <a:srgbClr val="000000"/>
                          </a:solidFill>
                          <a:latin typeface="Arial Black" panose="020B0A04020102020204" charset="0"/>
                          <a:ea typeface="Inter"/>
                          <a:cs typeface="Arial Black" panose="020B0A04020102020204" charset="0"/>
                        </a:rPr>
                        <a:t>50</a:t>
                      </a:r>
                      <a:endParaRPr sz="1100" b="1" i="0">
                        <a:solidFill>
                          <a:srgbClr val="000000"/>
                        </a:solidFill>
                        <a:latin typeface="Arial Black" panose="020B0A04020102020204" charset="0"/>
                        <a:ea typeface="Inter"/>
                        <a:cs typeface="Arial Black" panose="020B0A04020102020204" charset="0"/>
                      </a:endParaRPr>
                    </a:p>
                  </a:txBody>
                  <a:tcPr marL="152717" marR="152717" marT="57467" marB="57467" anchor="ctr" anchorCtr="0"/>
                </a:tc>
              </a:tr>
              <a:tr h="36576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1" i="0">
                          <a:solidFill>
                            <a:srgbClr val="000000"/>
                          </a:solidFill>
                          <a:latin typeface="Arial Black" panose="020B0A04020102020204" charset="0"/>
                          <a:ea typeface="Inter"/>
                          <a:cs typeface="Arial Black" panose="020B0A04020102020204" charset="0"/>
                        </a:rPr>
                        <a:t>Technique</a:t>
                      </a:r>
                      <a:endParaRPr sz="1100" b="1" i="0">
                        <a:solidFill>
                          <a:srgbClr val="000000"/>
                        </a:solidFill>
                        <a:latin typeface="Arial Black" panose="020B0A04020102020204" charset="0"/>
                        <a:ea typeface="Inter"/>
                        <a:cs typeface="Arial Black" panose="020B0A04020102020204" charset="0"/>
                      </a:endParaRPr>
                    </a:p>
                  </a:txBody>
                  <a:tcPr marL="152717" marR="152717" marT="57467" marB="57467" anchor="ctr" anchorCtr="0"/>
                </a:tc>
                <a:tc>
                  <a:txBody>
                    <a:bodyPr/>
                    <a:p>
                      <a:pPr marL="0" indent="0" algn="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1" i="0">
                          <a:solidFill>
                            <a:srgbClr val="09182D"/>
                          </a:solidFill>
                          <a:latin typeface="Arial Black" panose="020B0A04020102020204" charset="0"/>
                          <a:ea typeface="Inter"/>
                          <a:cs typeface="Arial Black" panose="020B0A04020102020204" charset="0"/>
                        </a:rPr>
                        <a:t>65</a:t>
                      </a:r>
                      <a:endParaRPr sz="1100" b="1" i="0">
                        <a:solidFill>
                          <a:srgbClr val="09182D"/>
                        </a:solidFill>
                        <a:latin typeface="Arial Black" panose="020B0A04020102020204" charset="0"/>
                        <a:ea typeface="Inter"/>
                        <a:cs typeface="Arial Black" panose="020B0A04020102020204" charset="0"/>
                      </a:endParaRPr>
                    </a:p>
                  </a:txBody>
                  <a:tcPr marL="152717" marR="152717" marT="57467" marB="57467" anchor="ctr" anchorCtr="0"/>
                </a:tc>
              </a:tr>
            </a:tbl>
          </a:graphicData>
        </a:graphic>
      </p:graphicFrame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465945" y="1174750"/>
            <a:ext cx="2116455" cy="4953000"/>
          </a:xfrm>
        </p:spPr>
        <p:txBody>
          <a:bodyPr/>
          <a:p>
            <a:pPr marL="0" indent="0">
              <a:buNone/>
            </a:pPr>
            <a:r>
              <a:rPr lang="it-IT" altLang="en-US"/>
              <a:t> </a:t>
            </a:r>
            <a:endParaRPr lang="it-IT" altLang="en-US"/>
          </a:p>
        </p:txBody>
      </p:sp>
      <p:pic>
        <p:nvPicPr>
          <p:cNvPr id="6" name="Content Placeholder 5" descr="91156155 (2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2990" y="5876290"/>
            <a:ext cx="969010" cy="98171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randomBar dir="vert"/>
      </p:transition>
    </mc:Choice>
    <mc:Fallback>
      <p:transition spd="slow">
        <p:randomBar dir="vert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BEST ROLES (SUITABLE)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4750"/>
            <a:ext cx="10148570" cy="4953000"/>
          </a:xfrm>
        </p:spPr>
        <p:txBody>
          <a:bodyPr/>
          <a:p>
            <a:pPr marL="0" indent="0">
              <a:buNone/>
            </a:pPr>
            <a:r>
              <a:rPr lang="en-US" altLang="en-US" b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rgbClr val="FF0000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Winger (Attack)62.5</a:t>
            </a:r>
            <a:endParaRPr lang="en-US" altLang="en-US" b="1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solidFill>
                <a:srgbClr val="FF0000"/>
              </a:solidFill>
              <a:effectLst>
                <a:innerShdw blurRad="177800">
                  <a:schemeClr val="accent3">
                    <a:lumMod val="50000"/>
                  </a:schemeClr>
                </a:innerShdw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en-US" altLang="en-US" b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rgbClr val="FF0000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Winger (Support)62.1</a:t>
            </a:r>
            <a:endParaRPr lang="en-US" altLang="en-US" b="1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solidFill>
                <a:srgbClr val="FF0000"/>
              </a:solidFill>
              <a:effectLst>
                <a:innerShdw blurRad="177800">
                  <a:schemeClr val="accent3">
                    <a:lumMod val="50000"/>
                  </a:schemeClr>
                </a:innerShdw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en-US" altLang="en-US" b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rgbClr val="FF0000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Inverted Winger (Attack)60.1</a:t>
            </a:r>
            <a:endParaRPr lang="en-US" altLang="en-US" b="1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solidFill>
                <a:srgbClr val="FF0000"/>
              </a:solidFill>
              <a:effectLst>
                <a:innerShdw blurRad="177800">
                  <a:schemeClr val="accent3">
                    <a:lumMod val="50000"/>
                  </a:schemeClr>
                </a:innerShdw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en-US" altLang="en-US" b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rgbClr val="FF0000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Inverted Winger (Support)59.8</a:t>
            </a:r>
            <a:endParaRPr lang="en-US" altLang="en-US" b="1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solidFill>
                <a:srgbClr val="FF0000"/>
              </a:solidFill>
              <a:effectLst>
                <a:innerShdw blurRad="177800">
                  <a:schemeClr val="accent3">
                    <a:lumMod val="50000"/>
                  </a:schemeClr>
                </a:innerShdw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en-US" altLang="en-US" b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rgbClr val="FF0000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Advanced Playmaker (Attack)59.7</a:t>
            </a:r>
            <a:endParaRPr lang="en-US" altLang="en-US" b="1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solidFill>
                <a:srgbClr val="FF0000"/>
              </a:solidFill>
              <a:effectLst>
                <a:innerShdw blurRad="177800">
                  <a:schemeClr val="accent3">
                    <a:lumMod val="50000"/>
                  </a:schemeClr>
                </a:innerShdw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p>
            <a:pPr marL="0" indent="0">
              <a:buNone/>
            </a:pPr>
            <a:r>
              <a:rPr lang="it-IT" altLang="en-US"/>
              <a:t> </a:t>
            </a:r>
            <a:endParaRPr lang="it-IT" altLang="en-US"/>
          </a:p>
        </p:txBody>
      </p:sp>
      <p:pic>
        <p:nvPicPr>
          <p:cNvPr id="6" name="Content Placeholder 5" descr="91156155 (2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2990" y="5876290"/>
            <a:ext cx="969010" cy="98171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randomBar dir="vert"/>
      </p:transition>
    </mc:Choice>
    <mc:Fallback>
      <p:transition spd="slow">
        <p:randomBar dir="vert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it-IT" altLang="en-US"/>
              <a:t> </a:t>
            </a:r>
            <a:endParaRPr lang="it-IT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232535"/>
            <a:ext cx="10732135" cy="4895215"/>
          </a:xfrm>
        </p:spPr>
        <p:txBody>
          <a:bodyPr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STATUS ABILITY GLOBAL </a:t>
            </a:r>
            <a:r>
              <a:rPr lang="it-IT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     </a:t>
            </a:r>
            <a:endParaRPr lang="en-US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it-IT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58-63/100</a:t>
            </a:r>
            <a:endParaRPr lang="it-IT" altLang="en-US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La media semplice dei suoi 31 attributi si attesta a circa 53.7. Tuttavia, i punteggi di idoneità per i suoi ruoli migliori (Winger Attack: 62.5) sono più alti, e i suoi attributi chiave offensivi sono elevati (70-65).</a:t>
            </a:r>
            <a:endParaRPr lang="en-US" altLang="en-US" sz="1800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OVERALL PREVIEW </a:t>
            </a:r>
            <a:r>
              <a:rPr lang="it-IT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  </a:t>
            </a:r>
            <a:endParaRPr lang="it-IT" altLang="en-US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1" i="0" u="none" strike="noStrike" kern="1200" cap="none" spc="0" normalizeH="0" baseline="0" noProof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rPr>
              <a:t>80</a:t>
            </a:r>
            <a:r>
              <a:rPr kumimoji="0" lang="it-IT" b="1" i="0" u="none" strike="noStrike" kern="1200" cap="none" spc="0" normalizeH="0" baseline="0" noProof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rPr>
              <a:t>-85</a:t>
            </a:r>
            <a:r>
              <a:rPr kumimoji="0" lang="it-IT" altLang="en-US" b="1" i="0" u="none" strike="noStrike" kern="1200" cap="none" spc="0" normalizeH="0" baseline="0" noProof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rPr>
              <a:t>/100</a:t>
            </a:r>
            <a:r>
              <a:rPr kumimoji="0" lang="en-US" altLang="en-US" b="1" i="0" u="none" strike="noStrike" kern="1200" cap="none" spc="0" normalizeH="0" baseline="0" noProof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rPr>
              <a:t>	</a:t>
            </a:r>
            <a:endParaRPr kumimoji="0" lang="en-US" altLang="en-US" b="1" i="0" u="none" strike="noStrike" kern="1200" cap="none" spc="0" normalizeH="0" baseline="0" noProof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2000" b="1" i="0" u="none" strike="noStrike" kern="1200" cap="none" spc="0" normalizeH="0" baseline="0" noProof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rPr>
              <a:t>Dato che </a:t>
            </a:r>
            <a:r>
              <a:rPr kumimoji="0" lang="" altLang="en-US" sz="2000" b="1" i="0" u="none" strike="noStrike" kern="1200" cap="none" spc="0" normalizeH="0" baseline="0" noProof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rPr>
              <a:t>è</a:t>
            </a:r>
            <a:r>
              <a:rPr kumimoji="0" lang="en-US" altLang="en-US" sz="2000" b="1" i="0" u="none" strike="noStrike" kern="1200" cap="none" spc="0" normalizeH="0" baseline="0" noProof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rPr>
              <a:t> un giocatore giovanissimo (nato 2005) con basi fisiche e tecniche eccellenti (Acceleration 70, Agility 70, Technique 65) e gioca in un club importante come il Vasco da Gama, il suo potenziale </a:t>
            </a:r>
            <a:r>
              <a:rPr kumimoji="0" lang="" altLang="en-US" sz="2000" b="1" i="0" u="none" strike="noStrike" kern="1200" cap="none" spc="0" normalizeH="0" baseline="0" noProof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rPr>
              <a:t>è</a:t>
            </a:r>
            <a:r>
              <a:rPr kumimoji="0" lang="en-US" altLang="en-US" sz="2000" b="1" i="0" u="none" strike="noStrike" kern="1200" cap="none" spc="0" normalizeH="0" baseline="0" noProof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rPr>
              <a:t> stimato per raggiungere il livello di un titolare di fascia media/alta in uno dei top 5 campionati europei.</a:t>
            </a:r>
            <a:endParaRPr kumimoji="0" lang="en-US" altLang="en-US" sz="2000" b="1" i="0" u="none" strike="noStrike" kern="1200" cap="none" spc="0" normalizeH="0" baseline="0" noProof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+mn-ea"/>
              <a:cs typeface="+mn-cs"/>
            </a:endParaRPr>
          </a:p>
        </p:txBody>
      </p:sp>
      <p:pic>
        <p:nvPicPr>
          <p:cNvPr id="6" name="Content Placeholder 5" descr="91156155 (2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2990" y="5876290"/>
            <a:ext cx="969010" cy="98171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randomBar dir="vert"/>
      </p:transition>
    </mc:Choice>
    <mc:Fallback>
      <p:transition spd="slow">
        <p:randomBar dir="vert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The parameters indicate that it is similar to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4750"/>
            <a:ext cx="10695305" cy="4953000"/>
          </a:xfrm>
        </p:spPr>
        <p:txBody>
          <a:bodyPr/>
          <a:p>
            <a:pPr marL="0" indent="0">
              <a:buNone/>
            </a:pPr>
            <a:r>
              <a:rPr lang="en-US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Shinya Nakano</a:t>
            </a:r>
            <a:r>
              <a:rPr lang="it-IT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</a:t>
            </a:r>
            <a:r>
              <a:rPr lang="en-US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DR, DL, WBR, WBL</a:t>
            </a:r>
            <a:r>
              <a:rPr lang="it-IT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</a:t>
            </a:r>
            <a:r>
              <a:rPr lang="en-US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Gamba Osaka</a:t>
            </a:r>
            <a:endParaRPr lang="en-US" altLang="en-US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en-US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endParaRPr lang="en-US" altLang="en-US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en-US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Mats Rots</a:t>
            </a:r>
            <a:r>
              <a:rPr lang="it-IT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</a:t>
            </a:r>
            <a:r>
              <a:rPr lang="en-US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DL, DC, WBL</a:t>
            </a:r>
            <a:r>
              <a:rPr lang="it-IT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     </a:t>
            </a:r>
            <a:r>
              <a:rPr lang="en-US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FC Twente</a:t>
            </a:r>
            <a:endParaRPr lang="en-US" altLang="en-US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en-US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endParaRPr lang="en-US" altLang="en-US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en-US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David Moreira</a:t>
            </a:r>
            <a:r>
              <a:rPr lang="it-IT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</a:t>
            </a:r>
            <a:r>
              <a:rPr lang="en-US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DL, DC</a:t>
            </a:r>
            <a:r>
              <a:rPr lang="it-IT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                </a:t>
            </a:r>
            <a:r>
              <a:rPr lang="en-US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Sporting CP</a:t>
            </a:r>
            <a:endParaRPr lang="en-US" altLang="en-US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6" name="Content Placeholder 5" descr="91156155 (2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2990" y="5876290"/>
            <a:ext cx="969010" cy="98171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randomBar dir="vert"/>
      </p:transition>
    </mc:Choice>
    <mc:Fallback>
      <p:transition spd="slow">
        <p:randomBar dir="vert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it-IT" altLang="en-US"/>
              <a:t> </a:t>
            </a:r>
            <a:endParaRPr lang="it-IT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4750"/>
            <a:ext cx="11097260" cy="4953000"/>
          </a:xfrm>
        </p:spPr>
        <p:txBody>
          <a:bodyPr/>
          <a:p>
            <a:pPr marL="0" indent="0" fontAlgn="base">
              <a:buNone/>
            </a:pPr>
            <a:r>
              <a:rPr lang="it-IT" altLang="en-US"/>
              <a:t> </a:t>
            </a:r>
            <a:r>
              <a:rPr lang="en-US" b="1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current player value</a:t>
            </a:r>
            <a:r>
              <a:rPr lang="it-IT" altLang="en-US">
                <a:highlight>
                  <a:srgbClr val="00FFFF"/>
                </a:highlight>
                <a:sym typeface="+mn-ea"/>
              </a:rPr>
              <a:t> </a:t>
            </a:r>
            <a:endParaRPr lang="it-IT" altLang="en-US" strike="noStrike" noProof="1">
              <a:highlight>
                <a:srgbClr val="00FFFF"/>
              </a:highlight>
            </a:endParaRPr>
          </a:p>
          <a:p>
            <a:pPr marL="0" indent="0" fontAlgn="base">
              <a:buNone/>
            </a:pPr>
            <a:r>
              <a:rPr lang="it-IT" altLang="en-US">
                <a:sym typeface="+mn-ea"/>
              </a:rPr>
              <a:t> </a:t>
            </a:r>
            <a:r>
              <a:rPr lang="en-US" altLang="en-US" strike="noStrike" noProof="1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sym typeface="+mn-ea"/>
              </a:rPr>
              <a:t>€ 2,843,020</a:t>
            </a:r>
            <a:endParaRPr lang="en-US" altLang="en-US" strike="noStrike" noProof="1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  <a:sym typeface="+mn-ea"/>
            </a:endParaRPr>
          </a:p>
          <a:p>
            <a:pPr marL="0" indent="0" fontAlgn="base">
              <a:buNone/>
            </a:pPr>
            <a:r>
              <a:rPr lang="it-IT" altLang="en-US" b="1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potential future value</a:t>
            </a:r>
            <a:endParaRPr lang="it-IT" altLang="en-US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  <a:sym typeface="+mn-ea"/>
            </a:endParaRPr>
          </a:p>
          <a:p>
            <a:pPr marL="0" indent="0" fontAlgn="base">
              <a:buNone/>
            </a:pPr>
            <a:r>
              <a:rPr lang="it-IT" altLang="en-US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sym typeface="+mn-ea"/>
              </a:rPr>
              <a:t> </a:t>
            </a:r>
            <a:r>
              <a:rPr lang="en-US" altLang="en-US" sz="180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  <a:sym typeface="+mn-ea"/>
              </a:rPr>
              <a:t>€</a:t>
            </a:r>
            <a:r>
              <a:rPr lang="en-US" altLang="en-US" sz="280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  <a:sym typeface="+mn-ea"/>
              </a:rPr>
              <a:t>20.000.000 	Stima: Se raggiunge il potenziale di 80-85 e si afferma come titolare in Europa entro i 24 anni, il suo valore di mercato (per un terzino/ala giovane e di prospettiva brasiliana) si collocherebbe in questa fascia.</a:t>
            </a:r>
            <a:endParaRPr lang="en-US" altLang="en-US" sz="280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  <a:sym typeface="+mn-ea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p>
            <a:pPr marL="0" indent="0">
              <a:buNone/>
            </a:pPr>
            <a:r>
              <a:rPr lang="it-IT" altLang="en-US"/>
              <a:t> </a:t>
            </a:r>
            <a:endParaRPr lang="it-IT" altLang="en-US"/>
          </a:p>
        </p:txBody>
      </p:sp>
      <p:pic>
        <p:nvPicPr>
          <p:cNvPr id="6" name="Content Placeholder 5" descr="91156155 (2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2990" y="5876290"/>
            <a:ext cx="969010" cy="98171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Text Box 4"/>
          <p:cNvSpPr txBox="1"/>
          <p:nvPr/>
        </p:nvSpPr>
        <p:spPr>
          <a:xfrm>
            <a:off x="612775" y="6481445"/>
            <a:ext cx="251523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fld id="{63A1C593-65D0-4073-BCC9-577B9352EA97}" type="datetime2">
              <a:rPr lang="en-US" smtClean="0"/>
            </a:fld>
            <a:endParaRPr lang="en-US"/>
          </a:p>
        </p:txBody>
      </p:sp>
      <p:sp>
        <p:nvSpPr>
          <p:cNvPr id="7" name="Text Box 6"/>
          <p:cNvSpPr txBox="1"/>
          <p:nvPr/>
        </p:nvSpPr>
        <p:spPr>
          <a:xfrm>
            <a:off x="6660515" y="6481445"/>
            <a:ext cx="18973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it-IT" altLang="en-US">
                <a:effectLst>
                  <a:reflection blurRad="6350" stA="50000" endA="300" endPos="50000" dist="29997" dir="5400000" sy="-100000" algn="bl" rotWithShape="0"/>
                </a:effectLst>
                <a:latin typeface="Arial" panose="020B0604020202020204" pitchFamily="34" charset="0"/>
                <a:sym typeface="+mn-ea"/>
              </a:rPr>
              <a:t>Giuseppe Macca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randomBar dir="vert"/>
      </p:transition>
    </mc:Choice>
    <mc:Fallback>
      <p:transition spd="slow">
        <p:randomBar dir="vert"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it-IT" altLang="en-US">
                <a:solidFill>
                  <a:srgbClr val="FF0000"/>
                </a:solidFill>
              </a:rPr>
              <a:t>Final Consideration </a:t>
            </a:r>
            <a:endParaRPr lang="it-IT" altLang="en-US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 sz="1400"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Sistema Consigliato: Renderebbe al meglio in un sistema che lo schiera sulla fascia sinistra in una posizione avanzata (AML - Attaccante/Centrocampista sinistro) in moduli come il 4-3-3 o il 4-2-3-1, dove può sfruttare la sua velocità e abilità tecnica per creare superiorità numerica e crossare.</a:t>
            </a:r>
            <a:endParaRPr lang="en-US" altLang="en-US" sz="1400"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</a:endParaRPr>
          </a:p>
          <a:p>
            <a:endParaRPr lang="en-US" altLang="en-US" sz="1400"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</a:endParaRPr>
          </a:p>
          <a:p>
            <a:r>
              <a:rPr lang="en-US" altLang="en-US" sz="1400"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Tipo di Leadership dell'Allenatore </a:t>
            </a:r>
            <a:r>
              <a:rPr lang="zh-CN" altLang="en-US" sz="1400"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🧑</a:t>
            </a:r>
            <a:r>
              <a:rPr lang="en-US" altLang="en-US" sz="1400"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‍</a:t>
            </a:r>
            <a:r>
              <a:rPr lang="zh-CN" altLang="en-US" sz="1400"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🏫</a:t>
            </a:r>
            <a:endParaRPr lang="zh-CN" altLang="en-US" sz="1400"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</a:endParaRPr>
          </a:p>
          <a:p>
            <a:r>
              <a:rPr lang="en-US" altLang="en-US" sz="1400"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Leandrinho ha buoni attributi mentali come Determination (60) e Teamwork (60) , ma bassa Leadership (35) e Aggression (35).</a:t>
            </a:r>
            <a:endParaRPr lang="en-US" altLang="en-US" sz="1400"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</a:endParaRPr>
          </a:p>
          <a:p>
            <a:endParaRPr lang="en-US" altLang="en-US" sz="1400"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</a:endParaRPr>
          </a:p>
          <a:p>
            <a:r>
              <a:rPr lang="en-US" altLang="en-US" sz="1400"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Stile di Leadership: Un allenatore che utilizza un approccio motivazionale (incoraggiante) e che delega la Leadership ai veterani del gruppo (poiché il giocatore non </a:t>
            </a:r>
            <a:r>
              <a:rPr lang="" altLang="en-US" sz="1400"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è</a:t>
            </a:r>
            <a:r>
              <a:rPr lang="en-US" altLang="en-US" sz="1400"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 un leader) lo farebbe rendere al meglio.</a:t>
            </a:r>
            <a:endParaRPr lang="en-US" altLang="en-US" sz="1400"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</a:endParaRPr>
          </a:p>
          <a:p>
            <a:endParaRPr lang="en-US" altLang="en-US" sz="1400"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</a:endParaRPr>
          </a:p>
          <a:p>
            <a:r>
              <a:rPr lang="en-US" altLang="en-US" sz="1400"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Focus Tattico: L'allenatore dovrebbe concentrarsi sull'incoraggiare le sue doti offensive, pur lavorando sull'equilibrio tattico e la Concentration (45), che sono cruciali per evitare disattenzioni.</a:t>
            </a:r>
            <a:endParaRPr lang="en-US" altLang="en-US" sz="1400"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</a:endParaRPr>
          </a:p>
          <a:p>
            <a:r>
              <a:rPr lang="en-US" altLang="en-US" sz="1400"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Campionati Potenziali </a:t>
            </a:r>
            <a:r>
              <a:rPr lang="zh-CN" altLang="en-US" sz="1400"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🏆</a:t>
            </a:r>
            <a:endParaRPr lang="zh-CN" altLang="en-US" sz="1400"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</a:endParaRPr>
          </a:p>
          <a:p>
            <a:endParaRPr lang="en-US" altLang="en-US" sz="1400"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</a:endParaRPr>
          </a:p>
          <a:p>
            <a:r>
              <a:rPr lang="en-US" altLang="en-US" sz="1400"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Livello Attuale/Immediato: È già un giocatore da Brasileirão Série A (la prima divisione brasiliana).</a:t>
            </a:r>
            <a:endParaRPr lang="en-US" altLang="en-US" sz="1400"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</a:endParaRPr>
          </a:p>
          <a:p>
            <a:endParaRPr lang="en-US" altLang="en-US" sz="1400"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</a:endParaRPr>
          </a:p>
          <a:p>
            <a:r>
              <a:rPr lang="en-US" altLang="en-US" sz="1400"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Livello Potenziale: Data la sua età (2005) e il suo stile di gioco offensivo tipico dei talenti brasiliani, ha il potenziale per squadre di fascia medio-alta in campionati come la Liga portoghese (Liga NOS), la Eredivisie olandese, o la Ligue 1 francese come trampolino di lancio per approdare successivamente nei top 5 campionati europei (Premier League, La Liga, Serie A, Bundesliga).</a:t>
            </a:r>
            <a:endParaRPr lang="en-US" altLang="en-US" sz="1400"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</a:endParaRPr>
          </a:p>
        </p:txBody>
      </p:sp>
      <p:pic>
        <p:nvPicPr>
          <p:cNvPr id="6" name="Content Placeholder 5" descr="91156155 (2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2990" y="5876290"/>
            <a:ext cx="969010" cy="98171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Green Color">
  <a:themeElements>
    <a:clrScheme name="Green Color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9900"/>
      </a:accent1>
      <a:accent2>
        <a:srgbClr val="99CC00"/>
      </a:accent2>
      <a:accent3>
        <a:srgbClr val="FFFFFF"/>
      </a:accent3>
      <a:accent4>
        <a:srgbClr val="000000"/>
      </a:accent4>
      <a:accent5>
        <a:srgbClr val="AACAAA"/>
      </a:accent5>
      <a:accent6>
        <a:srgbClr val="8AB900"/>
      </a:accent6>
      <a:hlink>
        <a:srgbClr val="CC3300"/>
      </a:hlink>
      <a:folHlink>
        <a:srgbClr val="996600"/>
      </a:folHlink>
    </a:clrScheme>
    <a:fontScheme name="Green Color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Green Color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een Color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een Color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een Color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een Color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een Color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9900"/>
        </a:accent1>
        <a:accent2>
          <a:srgbClr val="99CC00"/>
        </a:accent2>
        <a:accent3>
          <a:srgbClr val="FFFFFF"/>
        </a:accent3>
        <a:accent4>
          <a:srgbClr val="000000"/>
        </a:accent4>
        <a:accent5>
          <a:srgbClr val="AACAAA"/>
        </a:accent5>
        <a:accent6>
          <a:srgbClr val="8AB900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3519</Words>
  <Application>WPS Presentation</Application>
  <PresentationFormat>Widescreen</PresentationFormat>
  <Paragraphs>235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1" baseType="lpstr">
      <vt:lpstr>Arial</vt:lpstr>
      <vt:lpstr>SimSun</vt:lpstr>
      <vt:lpstr>Wingdings</vt:lpstr>
      <vt:lpstr>Arial Black</vt:lpstr>
      <vt:lpstr>Inter</vt:lpstr>
      <vt:lpstr>Segoe Print</vt:lpstr>
      <vt:lpstr>Microsoft YaHei</vt:lpstr>
      <vt:lpstr>Arial Unicode MS</vt:lpstr>
      <vt:lpstr>Calibri</vt:lpstr>
      <vt:lpstr>Green Color</vt:lpstr>
      <vt:lpstr>Technical Schedule</vt:lpstr>
      <vt:lpstr>                          Technical Schedule</vt:lpstr>
      <vt:lpstr>SEASON HEATMAP</vt:lpstr>
      <vt:lpstr>PowerPoint 演示文稿</vt:lpstr>
      <vt:lpstr> </vt:lpstr>
      <vt:lpstr> </vt:lpstr>
      <vt:lpstr>BEST ROLES (SUITABLE)</vt:lpstr>
      <vt:lpstr> </vt:lpstr>
      <vt:lpstr>The parameters indicate that it is similar to</vt:lpstr>
      <vt:lpstr> </vt:lpstr>
      <vt:lpstr>Final Consideration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Technical Schedule</dc:title>
  <dc:creator/>
  <cp:lastModifiedBy>google1597316866</cp:lastModifiedBy>
  <cp:revision>30</cp:revision>
  <dcterms:created xsi:type="dcterms:W3CDTF">2023-06-04T10:59:00Z</dcterms:created>
  <dcterms:modified xsi:type="dcterms:W3CDTF">2025-11-01T10:11:38Z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60AC356AB9204BF2B919A4BB8AE7B43B</vt:lpwstr>
  </property>
  <property fmtid="{D5CDD505-2E9C-101B-9397-08002B2CF9AE}" pid="3" name="KSOProductBuildVer">
    <vt:lpwstr>1033-12.2.0.23131</vt:lpwstr>
  </property>
</Properties>
</file>