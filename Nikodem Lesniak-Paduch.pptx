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0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24417" y="3717925"/>
            <a:ext cx="10943167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626533" y="4940300"/>
            <a:ext cx="10949517" cy="981075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altLang="en-US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  <a:effectLst/>
                <a:sym typeface="+mn-ea"/>
              </a:rPr>
              <a:t>Technical Schedule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9115615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365" cy="6858635"/>
          </a:xfrm>
          <a:prstGeom prst="rect">
            <a:avLst/>
          </a:prstGeom>
        </p:spPr>
      </p:pic>
      <p:sp>
        <p:nvSpPr>
          <p:cNvPr id="5" name="Rectangles 4"/>
          <p:cNvSpPr/>
          <p:nvPr/>
        </p:nvSpPr>
        <p:spPr>
          <a:xfrm>
            <a:off x="1447800" y="2829560"/>
            <a:ext cx="9295765" cy="341503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Giuseppe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Macca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  <a:p>
            <a:pPr algn="ctr"/>
            <a:r>
              <a:rPr lang="it-IT" altLang="en-US" sz="72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Analytics Algorithms</a:t>
            </a:r>
            <a:endParaRPr lang="it-IT" altLang="en-US" sz="7200" b="1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                          </a:t>
            </a:r>
            <a:r>
              <a:rPr lang="it-IT" altLang="en-US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Technical Schedule</a:t>
            </a:r>
            <a:endParaRPr lang="it-IT" altLang="en-US">
              <a:ln w="12700">
                <a:solidFill>
                  <a:schemeClr val="accent1"/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427980"/>
          </a:xfrm>
        </p:spPr>
        <p:txBody>
          <a:bodyPr/>
          <a:p>
            <a:pPr marL="0" indent="0">
              <a:buNone/>
            </a:pPr>
            <a:r>
              <a:rPr lang="it-IT" altLang="en-US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Name: 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Nikodem Lesniak-Paduch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Citizenship: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Poland</a:t>
            </a:r>
            <a:endParaRPr lang="en-US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born:     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12/01/2006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Position: 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Defender - Centre-Back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Foot:           both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H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eight:        1,88 m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     Club:          </a:t>
            </a:r>
            <a:r>
              <a:rPr lang="en-US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Ruch Chorzow</a:t>
            </a: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it-IT" altLang="en-US">
                <a:gradFill>
                  <a:gsLst>
                    <a:gs pos="0">
                      <a:srgbClr val="14CD68"/>
                    </a:gs>
                    <a:gs pos="100000">
                      <a:srgbClr val="035C7D"/>
                    </a:gs>
                  </a:gsLst>
                  <a:lin scaled="0"/>
                </a:gra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        </a:t>
            </a: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pPr marL="0" indent="0">
              <a:buNone/>
            </a:pPr>
            <a:endParaRPr lang="it-IT" altLang="en-US">
              <a:gradFill>
                <a:gsLst>
                  <a:gs pos="0">
                    <a:srgbClr val="14CD68"/>
                  </a:gs>
                  <a:gs pos="100000">
                    <a:srgbClr val="035C7D"/>
                  </a:gs>
                </a:gsLst>
                <a:lin scaled="0"/>
              </a:gra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7" name="Content Placeholder 6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SEASON HEATMAP</a:t>
            </a:r>
            <a:endParaRPr lang="it-IT" altLang="en-US"/>
          </a:p>
        </p:txBody>
      </p:sp>
      <p:sp>
        <p:nvSpPr>
          <p:cNvPr id="7" name="Content Placeholder 6"/>
          <p:cNvSpPr/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 descr="WhatsApp Image 2025-11-02 at 12.51.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" y="1175385"/>
            <a:ext cx="10972165" cy="52901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graphicFrame>
        <p:nvGraphicFramePr>
          <p:cNvPr id="4" name="Content Placeholder 3"/>
          <p:cNvGraphicFramePr/>
          <p:nvPr>
            <p:ph sz="half" idx="1"/>
          </p:nvPr>
        </p:nvGraphicFramePr>
        <p:xfrm>
          <a:off x="762000" y="1155700"/>
          <a:ext cx="1060577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2885"/>
                <a:gridCol w="530288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PHYSICAL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Acceleration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70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Agility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Balance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Jumping Reach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60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Natural Fitness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70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Pace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Stamina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Strength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6" name="Content Placeholder 5" descr="91156155 (2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184150"/>
          <a:ext cx="10972800" cy="5667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6240"/>
                <a:gridCol w="5496560"/>
              </a:tblGrid>
              <a:tr h="3778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MENTAL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Aggression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Anticipation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Bravery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Composure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Concentration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Decisions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70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Determination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Flair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Leadership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Off the Ball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Positioning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70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Teamwork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Vision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77825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Work Rate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55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519410" y="1174750"/>
            <a:ext cx="1062990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graphicFrame>
        <p:nvGraphicFramePr>
          <p:cNvPr id="5" name="Content Placeholder 4"/>
          <p:cNvGraphicFramePr/>
          <p:nvPr>
            <p:ph sz="half" idx="1"/>
          </p:nvPr>
        </p:nvGraphicFramePr>
        <p:xfrm>
          <a:off x="609600" y="317500"/>
          <a:ext cx="1090676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3380"/>
                <a:gridCol w="545338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/>
                        <a:t>TECHNICAL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/>
                    </a:p>
                  </a:txBody>
                  <a:tcPr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Corners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20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Crossing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Dribbling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20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Finishing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15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First Touch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Free Kick Taking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Heading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25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Long Shots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Long Throws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Marking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40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Passing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50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Penalty Taking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15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Tackling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 i="0">
                          <a:solidFill>
                            <a:srgbClr val="09182D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70</a:t>
                      </a:r>
                      <a:endParaRPr sz="1100" b="1" i="0">
                        <a:solidFill>
                          <a:srgbClr val="09182D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  <a:tr h="36576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Technique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  <a:tc>
                  <a:txBody>
                    <a:bodyPr/>
                    <a:p>
                      <a:pPr marL="0" indent="0" algn="r" font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 i="0">
                          <a:solidFill>
                            <a:srgbClr val="000000"/>
                          </a:solidFill>
                          <a:latin typeface="Arial Black" panose="020B0A04020102020204" charset="0"/>
                          <a:ea typeface="Inter"/>
                          <a:cs typeface="Arial Black" panose="020B0A04020102020204" charset="0"/>
                        </a:rPr>
                        <a:t>30</a:t>
                      </a:r>
                      <a:endParaRPr sz="1100" b="0" i="0">
                        <a:solidFill>
                          <a:srgbClr val="000000"/>
                        </a:solidFill>
                        <a:latin typeface="Arial Black" panose="020B0A04020102020204" charset="0"/>
                        <a:ea typeface="Inter"/>
                        <a:cs typeface="Arial Black" panose="020B0A04020102020204" charset="0"/>
                      </a:endParaRPr>
                    </a:p>
                  </a:txBody>
                  <a:tcPr marL="152717" marR="152717" marT="57467" marB="57467" anchor="ctr" anchorCtr="0"/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5945" y="1174750"/>
            <a:ext cx="2116455" cy="4953000"/>
          </a:xfrm>
        </p:spPr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BEST ROLES (SUITABLE)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148570" cy="495300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Centre-back (Stopper)49.9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Anchor Man (Defend)49.8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Defensive midfielder (Support)49.7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Defensive midfielder (Defend)49.5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Centre-back (Cover)49.5</a:t>
            </a:r>
            <a:endParaRPr lang="en-US" altLang="en-US" b="1">
              <a:ln w="12700">
                <a:solidFill>
                  <a:schemeClr val="accent3">
                    <a:lumMod val="50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innerShdw blurRad="177800">
                  <a:schemeClr val="accent3">
                    <a:lumMod val="50000"/>
                  </a:schemeClr>
                </a:innerShdw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32535"/>
            <a:ext cx="10732135" cy="4895215"/>
          </a:xfrm>
        </p:spPr>
        <p:txBody>
          <a:bodyPr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STATUS ABILITY GLOBAL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   </a:t>
            </a: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45 - 50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/ 100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OVERALL PREVIEW 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</a:t>
            </a:r>
            <a:endParaRPr lang="it-IT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70 - 75</a:t>
            </a:r>
            <a:r>
              <a:rPr kumimoji="0" lang="it-IT" altLang="en-US" b="1" i="0" u="none" strike="noStrike" kern="1200" cap="none" spc="0" normalizeH="0" baseline="0" noProof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/ 100</a:t>
            </a:r>
            <a:endParaRPr kumimoji="0" lang="it-IT" altLang="en-US" b="1" i="0" u="none" strike="noStrike" kern="1200" cap="none" spc="0" normalizeH="0" baseline="0" noProof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+mn-cs"/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>
                <a:sym typeface="+mn-ea"/>
              </a:rPr>
              <a:t>The parameters indicate that it is similar to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0695305" cy="4953000"/>
          </a:xfrm>
        </p:spPr>
        <p:txBody>
          <a:bodyPr/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Anel Islamagi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ć</a:t>
            </a:r>
            <a:r>
              <a:rPr lang="it-IT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DM, MC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Frank Owusu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DM, MC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Santiago Murillo</a:t>
            </a:r>
            <a:r>
              <a:rPr lang="it-IT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</a:t>
            </a:r>
            <a:r>
              <a:rPr lang="en-US" altLang="en-US" b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DM, MC</a:t>
            </a:r>
            <a:endParaRPr lang="en-US" altLang="en-US" b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/>
              <a:t> </a:t>
            </a:r>
            <a:endParaRPr lang="it-IT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11097260" cy="4953000"/>
          </a:xfrm>
        </p:spPr>
        <p:txBody>
          <a:bodyPr/>
          <a:p>
            <a:pPr marL="0" indent="0" fontAlgn="base">
              <a:buNone/>
            </a:pPr>
            <a:r>
              <a:rPr lang="it-IT" altLang="en-US"/>
              <a:t> </a:t>
            </a:r>
            <a:r>
              <a:rPr lang="en-US" b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current player value</a:t>
            </a:r>
            <a:r>
              <a:rPr lang="it-IT" altLang="en-US">
                <a:highlight>
                  <a:srgbClr val="00FFFF"/>
                </a:highlight>
                <a:sym typeface="+mn-ea"/>
              </a:rPr>
              <a:t> </a:t>
            </a:r>
            <a:endParaRPr lang="it-IT" altLang="en-US" strike="noStrike" noProof="1">
              <a:highlight>
                <a:srgbClr val="00FFFF"/>
              </a:highlight>
            </a:endParaRPr>
          </a:p>
          <a:p>
            <a:pPr marL="0" indent="0" fontAlgn="base">
              <a:buNone/>
            </a:pPr>
            <a:r>
              <a:rPr lang="it-IT" altLang="en-US">
                <a:sym typeface="+mn-ea"/>
              </a:rPr>
              <a:t> </a:t>
            </a:r>
            <a:r>
              <a:rPr lang="en-US" altLang="en-US" strike="noStrike" noProof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€300.000</a:t>
            </a:r>
            <a:endParaRPr lang="en-US" altLang="en-US" strike="noStrike" noProof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 b="1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potential future value</a:t>
            </a:r>
            <a:endParaRPr lang="it-IT" alt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sym typeface="+mn-ea"/>
            </a:endParaRPr>
          </a:p>
          <a:p>
            <a:pPr marL="0" indent="0" fontAlgn="base">
              <a:buNone/>
            </a:pPr>
            <a:r>
              <a:rPr lang="it-IT" alt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sym typeface="+mn-ea"/>
              </a:rPr>
              <a:t> </a:t>
            </a:r>
            <a:r>
              <a:rPr lang="en-US" altLang="en-US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sym typeface="+mn-ea"/>
              </a:rPr>
              <a:t>€5.000.000 	Se raggiunge il suo potenziale e gioca regolarmente nelle massime divisioni di campionati di fascia media (es. Polonia, Olanda, Belgio) o nella Serie B italiana.</a:t>
            </a:r>
            <a:endParaRPr lang="en-US" altLang="en-US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  <a:sym typeface="+mn-ea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it-IT" altLang="en-US"/>
              <a:t> </a:t>
            </a:r>
            <a:endParaRPr lang="it-IT" altLang="en-US"/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612775" y="6481445"/>
            <a:ext cx="251523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fld id="{63A1C593-65D0-4073-BCC9-577B9352EA97}" type="datetime2">
              <a:rPr lang="en-US" smtClean="0"/>
            </a:fld>
            <a:endParaRPr lang="en-US"/>
          </a:p>
        </p:txBody>
      </p:sp>
      <p:sp>
        <p:nvSpPr>
          <p:cNvPr id="7" name="Text Box 6"/>
          <p:cNvSpPr txBox="1"/>
          <p:nvPr/>
        </p:nvSpPr>
        <p:spPr>
          <a:xfrm>
            <a:off x="6660515" y="6481445"/>
            <a:ext cx="18973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it-IT" altLang="en-US">
                <a:effectLst>
                  <a:reflection blurRad="6350" stA="50000" endA="300" endPos="50000" dist="29997" dir="5400000" sy="-100000" algn="bl" rotWithShape="0"/>
                </a:effectLst>
                <a:latin typeface="Arial" panose="020B0604020202020204" pitchFamily="34" charset="0"/>
                <a:sym typeface="+mn-ea"/>
              </a:rPr>
              <a:t>Giuseppe Macca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randomBar dir="vert"/>
      </p:transition>
    </mc:Choice>
    <mc:Fallback>
      <p:transition spd="slow">
        <p:randomBar dir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it-IT" altLang="en-US">
                <a:solidFill>
                  <a:srgbClr val="FF0000"/>
                </a:solidFill>
              </a:rPr>
              <a:t>Final Consideration </a:t>
            </a:r>
            <a:endParaRPr lang="it-IT" altLang="en-US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Sistema Consigliato: È ideale come Difensore Centrale in una difesa a 4 o a 3 (Stopper), dove può concentrarsi sul contrasto diretto grazie al suo Tackling e posizionamento. In un centrocampo a 5, </a:t>
            </a:r>
            <a:r>
              <a:rPr lang="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è</a:t>
            </a:r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perfetto come Mediano Difensivo (Anchor Man) davanti alla difesa, dove le sue Decisions lo aiutano a interrompere il gioco e la bassa Stamina non </a:t>
            </a:r>
            <a:r>
              <a:rPr lang="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è</a:t>
            </a:r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eccessivamente penalizzata. Non </a:t>
            </a:r>
            <a:r>
              <a:rPr lang="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è</a:t>
            </a:r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adatto a difese molto alte che richiedono velocità sulla lunga distanza (Pace 55) o grande fisicità (Strength 40).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2. Tipo di Leadership dell'Allenatore </a:t>
            </a:r>
            <a:r>
              <a:rPr lang="zh-CN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🧑</a:t>
            </a:r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‍</a:t>
            </a:r>
            <a:r>
              <a:rPr lang="zh-CN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🏫</a:t>
            </a:r>
            <a:endParaRPr lang="zh-CN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Il giocatore ha una Leadership estremamente bassa (5) e una bassa Composure (35).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Stile di Leadership: Necessita di un allenatore con una leadership forte, gerarchica e accentratrice. L'allenatore deve assumere un ruolo guida indiscusso per compensare la mancanza di leadership del giocatore e deve fornire istruzioni tattiche dirette e minimaliste per evitare di confonderlo o metterlo in eccessiva pressione.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3. Campionati Potenziali </a:t>
            </a:r>
            <a:r>
              <a:rPr lang="zh-CN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🌍</a:t>
            </a:r>
            <a:endParaRPr lang="zh-CN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Attualmente gioca nel Ruch Chorzow (Polonia).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Livello Attuale/Immediato: Con un valore di €300.000, </a:t>
            </a:r>
            <a:r>
              <a:rPr lang="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è</a:t>
            </a:r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 un giovane prospetto per la Ekstraklasa polacca (massima divisione) o per campionati di seconda divisione in Europa centrale/occidentale.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  <a:p>
            <a:r>
              <a:rPr lang="en-US" altLang="en-US" sz="1400"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</a:rPr>
              <a:t>Livello Potenziale: Se riesce a sviluppare la sua Stamina e la Strength, la sua base di Tackling/Positioning lo rende un potenziale titolare per la Serie B italiana o per le massime divisioni olandesi (Eredivisie) o belghe (Jupiler Pro League).</a:t>
            </a:r>
            <a:endParaRPr lang="en-US" altLang="en-US" sz="1400"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Content Placeholder 5" descr="91156155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2990" y="5876290"/>
            <a:ext cx="969010" cy="98171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2940</Words>
  <Application>WPS Presentation</Application>
  <PresentationFormat>Widescreen</PresentationFormat>
  <Paragraphs>234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 Black</vt:lpstr>
      <vt:lpstr>Inter</vt:lpstr>
      <vt:lpstr>Segoe Print</vt:lpstr>
      <vt:lpstr>Microsoft YaHei</vt:lpstr>
      <vt:lpstr>Arial Unicode MS</vt:lpstr>
      <vt:lpstr>Calibri</vt:lpstr>
      <vt:lpstr>Green Color</vt:lpstr>
      <vt:lpstr>Technical Schedule</vt:lpstr>
      <vt:lpstr>                          Technical Schedule</vt:lpstr>
      <vt:lpstr>SEASON HEATMAP</vt:lpstr>
      <vt:lpstr>PowerPoint 演示文稿</vt:lpstr>
      <vt:lpstr> </vt:lpstr>
      <vt:lpstr> </vt:lpstr>
      <vt:lpstr>BEST ROLES (SUITABLE)</vt:lpstr>
      <vt:lpstr> </vt:lpstr>
      <vt:lpstr>The parameters indicate that it is similar to</vt:lpstr>
      <vt:lpstr> </vt:lpstr>
      <vt:lpstr>Final Consideration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Schedule</dc:title>
  <dc:creator/>
  <cp:lastModifiedBy>google1597316866</cp:lastModifiedBy>
  <cp:revision>30</cp:revision>
  <dcterms:created xsi:type="dcterms:W3CDTF">2023-06-04T10:59:00Z</dcterms:created>
  <dcterms:modified xsi:type="dcterms:W3CDTF">2025-11-02T12:37:54Z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60AC356AB9204BF2B919A4BB8AE7B43B</vt:lpwstr>
  </property>
  <property fmtid="{D5CDD505-2E9C-101B-9397-08002B2CF9AE}" pid="3" name="KSOProductBuildVer">
    <vt:lpwstr>1033-12.2.0.23131</vt:lpwstr>
  </property>
</Properties>
</file>