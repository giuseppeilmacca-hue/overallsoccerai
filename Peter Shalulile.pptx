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70" r:id="rId5"/>
    <p:sldId id="258" r:id="rId6"/>
    <p:sldId id="259" r:id="rId7"/>
    <p:sldId id="260" r:id="rId8"/>
    <p:sldId id="265" r:id="rId9"/>
    <p:sldId id="261" r:id="rId10"/>
    <p:sldId id="262" r:id="rId11"/>
    <p:sldId id="263" r:id="rId12"/>
    <p:sldId id="264" r:id="rId13"/>
    <p:sldId id="279" r:id="rId14"/>
    <p:sldId id="28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3717925"/>
            <a:ext cx="10943167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4940300"/>
            <a:ext cx="10949517" cy="981075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1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ffectLst/>
                <a:sym typeface="+mn-ea"/>
              </a:rPr>
              <a:t>Technical Schedule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9115615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635"/>
          </a:xfrm>
          <a:prstGeom prst="rect">
            <a:avLst/>
          </a:prstGeom>
        </p:spPr>
      </p:pic>
      <p:sp>
        <p:nvSpPr>
          <p:cNvPr id="5" name="Rectangles 4"/>
          <p:cNvSpPr/>
          <p:nvPr/>
        </p:nvSpPr>
        <p:spPr>
          <a:xfrm>
            <a:off x="1447800" y="2829560"/>
            <a:ext cx="9295765" cy="341503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p>
            <a:pPr algn="ctr"/>
            <a:r>
              <a:rPr lang="it-IT" altLang="en-US" sz="72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Giuseppe</a:t>
            </a:r>
            <a:endParaRPr lang="it-IT" altLang="en-US" sz="7200" b="1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  <a:p>
            <a:pPr algn="ctr"/>
            <a:r>
              <a:rPr lang="it-IT" altLang="en-US" sz="72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Macca</a:t>
            </a:r>
            <a:endParaRPr lang="it-IT" altLang="en-US" sz="7200" b="1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  <a:p>
            <a:pPr algn="ctr"/>
            <a:r>
              <a:rPr lang="it-IT" altLang="en-US" sz="72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Analytics Algorithms</a:t>
            </a:r>
            <a:endParaRPr lang="it-IT" altLang="en-US" sz="7200" b="1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p>
            <a:r>
              <a:rPr lang="it-IT" altLang="en-US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                          </a:t>
            </a:r>
            <a:r>
              <a:rPr lang="it-IT" altLang="en-US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sym typeface="+mn-ea"/>
              </a:rPr>
              <a:t>Technical Schedule</a:t>
            </a:r>
            <a:endParaRPr lang="it-IT" altLang="en-US">
              <a:ln w="12700">
                <a:solidFill>
                  <a:schemeClr val="accent1"/>
                </a:solidFill>
                <a:prstDash val="solid"/>
              </a:ln>
              <a:solidFill>
                <a:srgbClr val="FF0000"/>
              </a:solidFill>
              <a:effectLst>
                <a:outerShdw dist="38100" dir="2640000" algn="bl" rotWithShape="0">
                  <a:schemeClr val="accent1"/>
                </a:outerShdw>
              </a:effectLst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4750"/>
            <a:ext cx="10972800" cy="5427980"/>
          </a:xfrm>
        </p:spPr>
        <p:txBody>
          <a:bodyPr/>
          <a:p>
            <a:pPr marL="0" indent="0">
              <a:buNone/>
            </a:pPr>
            <a:r>
              <a:rPr lang="it-IT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</a:t>
            </a: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Name:      </a:t>
            </a:r>
            <a:r>
              <a:rPr lang="en-US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Peter Shalulile</a:t>
            </a: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Citizenship:  </a:t>
            </a:r>
            <a:r>
              <a:rPr lang="en-US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Namibia</a:t>
            </a: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/</a:t>
            </a:r>
            <a:r>
              <a:rPr lang="en-US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South Africa  </a:t>
            </a:r>
            <a:endParaRPr lang="en-US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born:      </a:t>
            </a:r>
            <a:r>
              <a:rPr lang="en-US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23/10/1993</a:t>
            </a: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Position:  </a:t>
            </a:r>
            <a:r>
              <a:rPr lang="en-US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AMR, AML, AMC, ST</a:t>
            </a: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Foot:     </a:t>
            </a:r>
            <a:r>
              <a:rPr lang="en-US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Left foot</a:t>
            </a: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</a:t>
            </a:r>
            <a:r>
              <a:rPr lang="en-US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60</a:t>
            </a: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/100 </a:t>
            </a:r>
            <a:r>
              <a:rPr lang="en-US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Right foot</a:t>
            </a: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</a:t>
            </a:r>
            <a:r>
              <a:rPr lang="en-US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100</a:t>
            </a: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/100     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H</a:t>
            </a: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eight:     174 cm       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Club:     </a:t>
            </a:r>
            <a:r>
              <a:rPr lang="en-US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Mamelodi Sundowns FC</a:t>
            </a: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>
              <a:buNone/>
            </a:pP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7" name="Content Placeholder 6" descr="91156155 (2)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SEASON HEATMAP</a:t>
            </a:r>
            <a:endParaRPr lang="it-IT" altLang="en-US"/>
          </a:p>
        </p:txBody>
      </p:sp>
      <p:pic>
        <p:nvPicPr>
          <p:cNvPr id="3" name="Content Placeholder 2" descr="WhatsApp Image 2025-11-30 at 12.20.4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10235" y="949325"/>
            <a:ext cx="10600690" cy="54184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graphicFrame>
        <p:nvGraphicFramePr>
          <p:cNvPr id="4" name="Content Placeholder 3"/>
          <p:cNvGraphicFramePr/>
          <p:nvPr>
            <p:ph sz="half" idx="1"/>
          </p:nvPr>
        </p:nvGraphicFramePr>
        <p:xfrm>
          <a:off x="762000" y="1155700"/>
          <a:ext cx="1060577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2885"/>
                <a:gridCol w="5302885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PHYSICAL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Acceleration</a:t>
                      </a:r>
                      <a:endParaRPr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2689B9"/>
                          </a:solidFill>
                          <a:latin typeface="Inter"/>
                          <a:ea typeface="Inter"/>
                        </a:rPr>
                        <a:t>80</a:t>
                      </a:r>
                      <a:endParaRPr sz="1100" b="0" i="0">
                        <a:solidFill>
                          <a:srgbClr val="2689B9"/>
                        </a:solidFill>
                        <a:latin typeface="Inter"/>
                        <a:ea typeface="Inter"/>
                      </a:endParaRPr>
                    </a:p>
                  </a:txBody>
                  <a:tcPr marL="152717" marR="152717" marT="57467" marB="5746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Agility</a:t>
                      </a:r>
                      <a:endParaRPr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50</a:t>
                      </a:r>
                      <a:endParaRPr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52717" marR="152717" marT="57467" marB="5746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Balance</a:t>
                      </a:r>
                      <a:endParaRPr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9182D"/>
                          </a:solidFill>
                          <a:latin typeface="Inter"/>
                          <a:ea typeface="Inter"/>
                        </a:rPr>
                        <a:t>55</a:t>
                      </a:r>
                      <a:endParaRPr sz="1100" b="1" i="0">
                        <a:solidFill>
                          <a:srgbClr val="09182D"/>
                        </a:solidFill>
                        <a:latin typeface="Inter"/>
                        <a:ea typeface="Inter"/>
                      </a:endParaRPr>
                    </a:p>
                  </a:txBody>
                  <a:tcPr marL="152717" marR="152717" marT="57467" marB="5746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Jumping Reach</a:t>
                      </a:r>
                      <a:endParaRPr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50</a:t>
                      </a:r>
                      <a:endParaRPr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52717" marR="152717" marT="57467" marB="5746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Natural Fitness</a:t>
                      </a:r>
                      <a:endParaRPr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2689B9"/>
                          </a:solidFill>
                          <a:latin typeface="Inter"/>
                          <a:ea typeface="Inter"/>
                        </a:rPr>
                        <a:t>90</a:t>
                      </a:r>
                      <a:endParaRPr sz="1100" b="0" i="0">
                        <a:solidFill>
                          <a:srgbClr val="2689B9"/>
                        </a:solidFill>
                        <a:latin typeface="Inter"/>
                        <a:ea typeface="Inter"/>
                      </a:endParaRPr>
                    </a:p>
                  </a:txBody>
                  <a:tcPr marL="152717" marR="152717" marT="57467" marB="5746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Pace</a:t>
                      </a:r>
                      <a:endParaRPr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2689B9"/>
                          </a:solidFill>
                          <a:latin typeface="Inter"/>
                          <a:ea typeface="Inter"/>
                        </a:rPr>
                        <a:t>75</a:t>
                      </a:r>
                      <a:endParaRPr sz="1100" b="0" i="0">
                        <a:solidFill>
                          <a:srgbClr val="2689B9"/>
                        </a:solidFill>
                        <a:latin typeface="Inter"/>
                        <a:ea typeface="Inter"/>
                      </a:endParaRPr>
                    </a:p>
                  </a:txBody>
                  <a:tcPr marL="152717" marR="152717" marT="57467" marB="5746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Stamina</a:t>
                      </a:r>
                      <a:endParaRPr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2689B9"/>
                          </a:solidFill>
                          <a:latin typeface="Inter"/>
                          <a:ea typeface="Inter"/>
                        </a:rPr>
                        <a:t>85</a:t>
                      </a:r>
                      <a:endParaRPr sz="1100" b="0" i="0">
                        <a:solidFill>
                          <a:srgbClr val="2689B9"/>
                        </a:solidFill>
                        <a:latin typeface="Inter"/>
                        <a:ea typeface="Inter"/>
                      </a:endParaRPr>
                    </a:p>
                  </a:txBody>
                  <a:tcPr marL="152717" marR="152717" marT="57467" marB="5746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Strength</a:t>
                      </a:r>
                      <a:endParaRPr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40</a:t>
                      </a:r>
                      <a:endParaRPr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52717" marR="152717" marT="57467" marB="57467" anchor="ctr" anchorCtr="0"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Content Placeholder 5" descr="91156155 (2)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 </a:t>
            </a:r>
            <a:endParaRPr lang="it-IT" altLang="en-US"/>
          </a:p>
        </p:txBody>
      </p:sp>
      <p:graphicFrame>
        <p:nvGraphicFramePr>
          <p:cNvPr id="5" name="Content Placeholder 4"/>
          <p:cNvGraphicFramePr/>
          <p:nvPr>
            <p:ph sz="half" idx="1"/>
          </p:nvPr>
        </p:nvGraphicFramePr>
        <p:xfrm>
          <a:off x="609600" y="184150"/>
          <a:ext cx="10972800" cy="5667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240"/>
                <a:gridCol w="5496560"/>
              </a:tblGrid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MENTAL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Aggression</a:t>
                      </a:r>
                      <a:endParaRPr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40</a:t>
                      </a:r>
                      <a:endParaRPr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52717" marR="152717" marT="57467" marB="57467" anchor="ctr" anchorCtr="0"/>
                </a:tc>
              </a:tr>
              <a:tr h="37782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Anticipation</a:t>
                      </a:r>
                      <a:endParaRPr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50</a:t>
                      </a:r>
                      <a:endParaRPr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52717" marR="152717" marT="57467" marB="57467" anchor="ctr" anchorCtr="0"/>
                </a:tc>
              </a:tr>
              <a:tr h="37782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Bravery</a:t>
                      </a:r>
                      <a:endParaRPr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9182D"/>
                          </a:solidFill>
                          <a:latin typeface="Inter"/>
                          <a:ea typeface="Inter"/>
                        </a:rPr>
                        <a:t>65</a:t>
                      </a:r>
                      <a:endParaRPr sz="1100" b="1" i="0">
                        <a:solidFill>
                          <a:srgbClr val="09182D"/>
                        </a:solidFill>
                        <a:latin typeface="Inter"/>
                        <a:ea typeface="Inter"/>
                      </a:endParaRPr>
                    </a:p>
                  </a:txBody>
                  <a:tcPr marL="152717" marR="152717" marT="57467" marB="57467" anchor="ctr" anchorCtr="0"/>
                </a:tc>
              </a:tr>
              <a:tr h="37782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Composure</a:t>
                      </a:r>
                      <a:endParaRPr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9182D"/>
                          </a:solidFill>
                          <a:latin typeface="Inter"/>
                          <a:ea typeface="Inter"/>
                        </a:rPr>
                        <a:t>60</a:t>
                      </a:r>
                      <a:endParaRPr sz="1100" b="1" i="0">
                        <a:solidFill>
                          <a:srgbClr val="09182D"/>
                        </a:solidFill>
                        <a:latin typeface="Inter"/>
                        <a:ea typeface="Inter"/>
                      </a:endParaRPr>
                    </a:p>
                  </a:txBody>
                  <a:tcPr marL="152717" marR="152717" marT="57467" marB="57467" anchor="ctr" anchorCtr="0"/>
                </a:tc>
              </a:tr>
              <a:tr h="37782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Concentration</a:t>
                      </a:r>
                      <a:endParaRPr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9182D"/>
                          </a:solidFill>
                          <a:latin typeface="Inter"/>
                          <a:ea typeface="Inter"/>
                        </a:rPr>
                        <a:t>55</a:t>
                      </a:r>
                      <a:endParaRPr sz="1100" b="1" i="0">
                        <a:solidFill>
                          <a:srgbClr val="09182D"/>
                        </a:solidFill>
                        <a:latin typeface="Inter"/>
                        <a:ea typeface="Inter"/>
                      </a:endParaRPr>
                    </a:p>
                  </a:txBody>
                  <a:tcPr marL="152717" marR="152717" marT="57467" marB="57467" anchor="ctr" anchorCtr="0"/>
                </a:tc>
              </a:tr>
              <a:tr h="37782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Decisions</a:t>
                      </a:r>
                      <a:endParaRPr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45</a:t>
                      </a:r>
                      <a:endParaRPr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52717" marR="152717" marT="57467" marB="57467" anchor="ctr" anchorCtr="0"/>
                </a:tc>
              </a:tr>
              <a:tr h="37782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Determination</a:t>
                      </a:r>
                      <a:endParaRPr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9182D"/>
                          </a:solidFill>
                          <a:latin typeface="Inter"/>
                          <a:ea typeface="Inter"/>
                        </a:rPr>
                        <a:t>65</a:t>
                      </a:r>
                      <a:endParaRPr sz="1100" b="1" i="0">
                        <a:solidFill>
                          <a:srgbClr val="09182D"/>
                        </a:solidFill>
                        <a:latin typeface="Inter"/>
                        <a:ea typeface="Inter"/>
                      </a:endParaRPr>
                    </a:p>
                  </a:txBody>
                  <a:tcPr marL="152717" marR="152717" marT="57467" marB="57467" anchor="ctr" anchorCtr="0"/>
                </a:tc>
              </a:tr>
              <a:tr h="37782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Flair</a:t>
                      </a:r>
                      <a:endParaRPr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9182D"/>
                          </a:solidFill>
                          <a:latin typeface="Inter"/>
                          <a:ea typeface="Inter"/>
                        </a:rPr>
                        <a:t>60</a:t>
                      </a:r>
                      <a:endParaRPr sz="1100" b="1" i="0">
                        <a:solidFill>
                          <a:srgbClr val="09182D"/>
                        </a:solidFill>
                        <a:latin typeface="Inter"/>
                        <a:ea typeface="Inter"/>
                      </a:endParaRPr>
                    </a:p>
                  </a:txBody>
                  <a:tcPr marL="152717" marR="152717" marT="57467" marB="57467" anchor="ctr" anchorCtr="0"/>
                </a:tc>
              </a:tr>
              <a:tr h="37782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Leadership</a:t>
                      </a:r>
                      <a:endParaRPr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35</a:t>
                      </a:r>
                      <a:endParaRPr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52717" marR="152717" marT="57467" marB="57467" anchor="ctr" anchorCtr="0"/>
                </a:tc>
              </a:tr>
              <a:tr h="37782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Off the Ball</a:t>
                      </a:r>
                      <a:endParaRPr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50</a:t>
                      </a:r>
                      <a:endParaRPr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52717" marR="152717" marT="57467" marB="57467" anchor="ctr" anchorCtr="0"/>
                </a:tc>
              </a:tr>
              <a:tr h="37782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Positioning</a:t>
                      </a:r>
                      <a:endParaRPr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9182D"/>
                          </a:solidFill>
                          <a:latin typeface="Inter"/>
                          <a:ea typeface="Inter"/>
                        </a:rPr>
                        <a:t>55</a:t>
                      </a:r>
                      <a:endParaRPr sz="1100" b="1" i="0">
                        <a:solidFill>
                          <a:srgbClr val="09182D"/>
                        </a:solidFill>
                        <a:latin typeface="Inter"/>
                        <a:ea typeface="Inter"/>
                      </a:endParaRPr>
                    </a:p>
                  </a:txBody>
                  <a:tcPr marL="152717" marR="152717" marT="57467" marB="57467" anchor="ctr" anchorCtr="0"/>
                </a:tc>
              </a:tr>
              <a:tr h="37782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Teamwork</a:t>
                      </a:r>
                      <a:endParaRPr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9182D"/>
                          </a:solidFill>
                          <a:latin typeface="Inter"/>
                          <a:ea typeface="Inter"/>
                        </a:rPr>
                        <a:t>60</a:t>
                      </a:r>
                      <a:endParaRPr sz="1100" b="1" i="0">
                        <a:solidFill>
                          <a:srgbClr val="09182D"/>
                        </a:solidFill>
                        <a:latin typeface="Inter"/>
                        <a:ea typeface="Inter"/>
                      </a:endParaRPr>
                    </a:p>
                  </a:txBody>
                  <a:tcPr marL="152717" marR="152717" marT="57467" marB="57467" anchor="ctr" anchorCtr="0"/>
                </a:tc>
              </a:tr>
              <a:tr h="37782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Vision</a:t>
                      </a:r>
                      <a:endParaRPr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40</a:t>
                      </a:r>
                      <a:endParaRPr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52717" marR="152717" marT="57467" marB="57467" anchor="ctr" anchorCtr="0"/>
                </a:tc>
              </a:tr>
              <a:tr h="37782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Work Rate</a:t>
                      </a:r>
                      <a:endParaRPr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2689B9"/>
                          </a:solidFill>
                          <a:latin typeface="Inter"/>
                          <a:ea typeface="Inter"/>
                        </a:rPr>
                        <a:t>90</a:t>
                      </a:r>
                      <a:endParaRPr sz="1100" b="0" i="0">
                        <a:solidFill>
                          <a:srgbClr val="2689B9"/>
                        </a:solidFill>
                        <a:latin typeface="Inter"/>
                        <a:ea typeface="Inter"/>
                      </a:endParaRPr>
                    </a:p>
                  </a:txBody>
                  <a:tcPr marL="152717" marR="152717" marT="57467" marB="57467" anchor="ctr" anchorCtr="0"/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519410" y="1174750"/>
            <a:ext cx="1062990" cy="4953000"/>
          </a:xfrm>
        </p:spPr>
        <p:txBody>
          <a:bodyPr/>
          <a:p>
            <a:pPr marL="0" indent="0">
              <a:buNone/>
            </a:pPr>
            <a:r>
              <a:rPr lang="it-IT" altLang="en-US"/>
              <a:t>  </a:t>
            </a:r>
            <a:endParaRPr lang="it-IT" altLang="en-US"/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 </a:t>
            </a:r>
            <a:endParaRPr lang="it-IT" altLang="en-US"/>
          </a:p>
        </p:txBody>
      </p:sp>
      <p:graphicFrame>
        <p:nvGraphicFramePr>
          <p:cNvPr id="5" name="Content Placeholder 4"/>
          <p:cNvGraphicFramePr/>
          <p:nvPr>
            <p:ph sz="half" idx="1"/>
          </p:nvPr>
        </p:nvGraphicFramePr>
        <p:xfrm>
          <a:off x="609600" y="317500"/>
          <a:ext cx="1090676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3380"/>
                <a:gridCol w="545338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TECHNICAL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/>
                        <a:t>Crossing</a:t>
                      </a:r>
                      <a:endParaRPr sz="1100"/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/>
                        <a:t>35</a:t>
                      </a:r>
                      <a:endParaRPr sz="1100"/>
                    </a:p>
                  </a:txBody>
                  <a:tcPr marL="152717" marR="152717" marT="57467" marB="5746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/>
                        <a:t>Dribbling</a:t>
                      </a:r>
                      <a:endParaRPr sz="1100"/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/>
                        <a:t>50</a:t>
                      </a:r>
                      <a:endParaRPr sz="1100"/>
                    </a:p>
                  </a:txBody>
                  <a:tcPr marL="152717" marR="152717" marT="57467" marB="5746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/>
                        <a:t>Finishing</a:t>
                      </a:r>
                      <a:endParaRPr sz="1100"/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>
                          <a:solidFill>
                            <a:srgbClr val="09182D"/>
                          </a:solidFill>
                        </a:rPr>
                        <a:t>65</a:t>
                      </a:r>
                      <a:endParaRPr sz="1100" b="1">
                        <a:solidFill>
                          <a:srgbClr val="09182D"/>
                        </a:solidFill>
                      </a:endParaRPr>
                    </a:p>
                  </a:txBody>
                  <a:tcPr marL="152717" marR="152717" marT="57467" marB="5746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/>
                        <a:t>First Touch</a:t>
                      </a:r>
                      <a:endParaRPr sz="1100"/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>
                          <a:solidFill>
                            <a:srgbClr val="09182D"/>
                          </a:solidFill>
                        </a:rPr>
                        <a:t>55</a:t>
                      </a:r>
                      <a:endParaRPr sz="1100" b="1">
                        <a:solidFill>
                          <a:srgbClr val="09182D"/>
                        </a:solidFill>
                      </a:endParaRPr>
                    </a:p>
                  </a:txBody>
                  <a:tcPr marL="152717" marR="152717" marT="57467" marB="5746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/>
                        <a:t>Heading</a:t>
                      </a:r>
                      <a:endParaRPr sz="1100"/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>
                          <a:solidFill>
                            <a:srgbClr val="09182D"/>
                          </a:solidFill>
                        </a:rPr>
                        <a:t>60</a:t>
                      </a:r>
                      <a:endParaRPr sz="1100" b="1">
                        <a:solidFill>
                          <a:srgbClr val="09182D"/>
                        </a:solidFill>
                      </a:endParaRPr>
                    </a:p>
                  </a:txBody>
                  <a:tcPr marL="152717" marR="152717" marT="57467" marB="5746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/>
                        <a:t>Long Shots</a:t>
                      </a:r>
                      <a:endParaRPr sz="1100"/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/>
                        <a:t>35</a:t>
                      </a:r>
                      <a:endParaRPr sz="1100"/>
                    </a:p>
                  </a:txBody>
                  <a:tcPr marL="152717" marR="152717" marT="57467" marB="5746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/>
                        <a:t>Marking</a:t>
                      </a:r>
                      <a:endParaRPr sz="1100"/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/>
                        <a:t>20</a:t>
                      </a:r>
                      <a:endParaRPr sz="1100"/>
                    </a:p>
                  </a:txBody>
                  <a:tcPr marL="152717" marR="152717" marT="57467" marB="5746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/>
                        <a:t>Passing</a:t>
                      </a:r>
                      <a:endParaRPr sz="1100"/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/>
                        <a:t>35</a:t>
                      </a:r>
                      <a:endParaRPr sz="1100"/>
                    </a:p>
                  </a:txBody>
                  <a:tcPr marL="152717" marR="152717" marT="57467" marB="5746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/>
                        <a:t>Tackling</a:t>
                      </a:r>
                      <a:endParaRPr sz="1100"/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/>
                        <a:t>30</a:t>
                      </a:r>
                      <a:endParaRPr sz="1100"/>
                    </a:p>
                  </a:txBody>
                  <a:tcPr marL="152717" marR="152717" marT="57467" marB="5746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/>
                        <a:t>Technique</a:t>
                      </a:r>
                      <a:endParaRPr sz="1100"/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>
                          <a:solidFill>
                            <a:srgbClr val="09182D"/>
                          </a:solidFill>
                        </a:rPr>
                        <a:t>55</a:t>
                      </a:r>
                      <a:endParaRPr sz="1100" b="1">
                        <a:solidFill>
                          <a:srgbClr val="09182D"/>
                        </a:solidFill>
                      </a:endParaRPr>
                    </a:p>
                  </a:txBody>
                  <a:tcPr marL="152717" marR="152717" marT="57467" marB="5746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Corners</a:t>
                      </a:r>
                      <a:endParaRPr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35</a:t>
                      </a:r>
                      <a:endParaRPr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52717" marR="152717" marT="57467" marB="5746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Free Kick Taking</a:t>
                      </a:r>
                      <a:endParaRPr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30</a:t>
                      </a:r>
                      <a:endParaRPr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52717" marR="152717" marT="57467" marB="5746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Long Throws</a:t>
                      </a:r>
                      <a:endParaRPr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5</a:t>
                      </a:r>
                      <a:endParaRPr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52717" marR="152717" marT="57467" marB="5746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Penalty Taking</a:t>
                      </a:r>
                      <a:endParaRPr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Inter"/>
                          <a:ea typeface="Inter"/>
                        </a:rPr>
                        <a:t>50</a:t>
                      </a:r>
                      <a:endParaRPr sz="1100" b="0" i="0">
                        <a:solidFill>
                          <a:srgbClr val="000000"/>
                        </a:solidFill>
                        <a:latin typeface="Inter"/>
                        <a:ea typeface="Inter"/>
                      </a:endParaRPr>
                    </a:p>
                  </a:txBody>
                  <a:tcPr marL="152717" marR="152717" marT="57467" marB="57467" anchor="ctr" anchorCtr="0"/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5945" y="1174750"/>
            <a:ext cx="2116455" cy="4953000"/>
          </a:xfrm>
        </p:spPr>
        <p:txBody>
          <a:bodyPr/>
          <a:p>
            <a:pPr marL="0" indent="0">
              <a:buNone/>
            </a:pPr>
            <a:r>
              <a:rPr lang="it-IT" altLang="en-US"/>
              <a:t> </a:t>
            </a:r>
            <a:endParaRPr lang="it-IT" altLang="en-US"/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solidFill>
                  <a:srgbClr val="FF0000"/>
                </a:solidFill>
              </a:rPr>
              <a:t>INJURY HISTORY</a:t>
            </a:r>
            <a:r>
              <a:rPr lang="it-IT" altLang="en-US" b="1">
                <a:solidFill>
                  <a:srgbClr val="FF0000"/>
                </a:solidFill>
              </a:rPr>
              <a:t> and RISK INJURIES</a:t>
            </a:r>
            <a:endParaRPr lang="it-IT" altLang="en-US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10906125" cy="4953000"/>
          </a:xfrm>
        </p:spPr>
        <p:txBody>
          <a:bodyPr/>
          <a:p>
            <a:pPr marL="0" indent="0">
              <a:buNone/>
            </a:pPr>
            <a:r>
              <a:rPr lang="it-IT" altLang="en-US" sz="1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</a:t>
            </a:r>
            <a:r>
              <a:rPr lang="en-US" altLang="en-US" sz="1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% Matches Missed (Last 5 Years): Approximately </a:t>
            </a:r>
            <a:r>
              <a:rPr lang="it-IT" altLang="en-US" sz="1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 </a:t>
            </a:r>
            <a:r>
              <a:rPr lang="en-US" altLang="en-US" sz="1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%. Although he possesses a Natural Fitness of 90 (which indicates rapid recovery).</a:t>
            </a:r>
            <a:endParaRPr lang="en-US" altLang="en-US" sz="12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6127115"/>
            <a:ext cx="969010" cy="730885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5" name="Table 4"/>
          <p:cNvGraphicFramePr/>
          <p:nvPr>
            <p:custDataLst>
              <p:tags r:id="rId2"/>
            </p:custDataLst>
          </p:nvPr>
        </p:nvGraphicFramePr>
        <p:xfrm>
          <a:off x="853440" y="1798320"/>
          <a:ext cx="10485120" cy="1859280"/>
        </p:xfrm>
        <a:graphic>
          <a:graphicData uri="http://schemas.openxmlformats.org/drawingml/2006/table">
            <a:tbl>
              <a:tblPr/>
              <a:tblGrid>
                <a:gridCol w="1747520"/>
                <a:gridCol w="1747520"/>
                <a:gridCol w="1747520"/>
                <a:gridCol w="1747520"/>
                <a:gridCol w="1747520"/>
                <a:gridCol w="1747520"/>
              </a:tblGrid>
              <a:tr h="929640">
                <a:tc>
                  <a:txBody>
                    <a:bodyPr/>
                    <a:p>
                      <a:pPr marL="0" indent="0" algn="ctr" fontAlgn="ctr">
                        <a:lnSpc>
                          <a:spcPts val="1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57585A"/>
                          </a:solidFill>
                          <a:latin typeface="Source Sans Pro"/>
                          <a:ea typeface="Source Sans Pro"/>
                        </a:rPr>
                        <a:t>23/24</a:t>
                      </a:r>
                      <a:endParaRPr sz="1100" b="0" i="0">
                        <a:solidFill>
                          <a:srgbClr val="57585A"/>
                        </a:solidFill>
                        <a:latin typeface="Source Sans Pro"/>
                        <a:ea typeface="Source Sans Pro"/>
                      </a:endParaRPr>
                    </a:p>
                  </a:txBody>
                  <a:tcPr marL="38417" marR="38417" marT="38417" marB="38417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4E4E4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4E4E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4E4E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 fontAlgn="ctr">
                        <a:lnSpc>
                          <a:spcPts val="1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57585A"/>
                          </a:solidFill>
                          <a:latin typeface="Source Sans Pro"/>
                          <a:ea typeface="Source Sans Pro"/>
                        </a:rPr>
                        <a:t>Hamstring injury</a:t>
                      </a:r>
                      <a:endParaRPr sz="1100" b="1" i="0">
                        <a:solidFill>
                          <a:srgbClr val="57585A"/>
                        </a:solidFill>
                        <a:latin typeface="Source Sans Pro"/>
                        <a:ea typeface="Source Sans Pro"/>
                      </a:endParaRPr>
                    </a:p>
                  </a:txBody>
                  <a:tcPr marL="28892" marR="28892" marT="38417" marB="38417" anchor="ctr" anchorCtr="0">
                    <a:lnL w="9525" cap="flat" cmpd="sng">
                      <a:solidFill>
                        <a:srgbClr val="E4E4E4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4E4E4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4E4E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4E4E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>
                        <a:lnSpc>
                          <a:spcPts val="1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57585A"/>
                          </a:solidFill>
                          <a:latin typeface="Source Sans Pro"/>
                          <a:ea typeface="Source Sans Pro"/>
                        </a:rPr>
                        <a:t>22/08/2023</a:t>
                      </a:r>
                      <a:endParaRPr sz="1100" b="0" i="0">
                        <a:solidFill>
                          <a:srgbClr val="57585A"/>
                        </a:solidFill>
                        <a:latin typeface="Source Sans Pro"/>
                        <a:ea typeface="Source Sans Pro"/>
                      </a:endParaRPr>
                    </a:p>
                  </a:txBody>
                  <a:tcPr marL="28892" marR="28892" marT="38417" marB="38417" anchor="ctr" anchorCtr="0">
                    <a:lnL w="9525" cap="flat" cmpd="sng">
                      <a:solidFill>
                        <a:srgbClr val="E4E4E4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4E4E4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4E4E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4E4E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>
                        <a:lnSpc>
                          <a:spcPts val="1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57585A"/>
                          </a:solidFill>
                          <a:latin typeface="Source Sans Pro"/>
                          <a:ea typeface="Source Sans Pro"/>
                        </a:rPr>
                        <a:t>14/09/2023</a:t>
                      </a:r>
                      <a:endParaRPr sz="1100" b="0" i="0">
                        <a:solidFill>
                          <a:srgbClr val="57585A"/>
                        </a:solidFill>
                        <a:latin typeface="Source Sans Pro"/>
                        <a:ea typeface="Source Sans Pro"/>
                      </a:endParaRPr>
                    </a:p>
                  </a:txBody>
                  <a:tcPr marL="28892" marR="28892" marT="38417" marB="38417" anchor="ctr" anchorCtr="0">
                    <a:lnL w="9525" cap="flat" cmpd="sng">
                      <a:solidFill>
                        <a:srgbClr val="E4E4E4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4E4E4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4E4E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4E4E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r" fontAlgn="ctr">
                        <a:lnSpc>
                          <a:spcPts val="1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57585A"/>
                          </a:solidFill>
                          <a:latin typeface="Source Sans Pro"/>
                          <a:ea typeface="Source Sans Pro"/>
                        </a:rPr>
                        <a:t>24 days</a:t>
                      </a:r>
                      <a:endParaRPr sz="1100" b="0" i="0">
                        <a:solidFill>
                          <a:srgbClr val="57585A"/>
                        </a:solidFill>
                        <a:latin typeface="Source Sans Pro"/>
                        <a:ea typeface="Source Sans Pro"/>
                      </a:endParaRPr>
                    </a:p>
                  </a:txBody>
                  <a:tcPr marL="28892" marR="95567" marT="38417" marB="38417" anchor="ctr" anchorCtr="0">
                    <a:lnL w="9525" cap="flat" cmpd="sng">
                      <a:solidFill>
                        <a:srgbClr val="E4E4E4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4E4E4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4E4E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4E4E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r" fontAlgn="ctr">
                        <a:lnSpc>
                          <a:spcPts val="1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sz="1100" b="1" i="0">
                        <a:solidFill>
                          <a:srgbClr val="57585A"/>
                        </a:solidFill>
                        <a:latin typeface="Source Sans Pro"/>
                        <a:ea typeface="Source Sans Pro"/>
                      </a:endParaRPr>
                    </a:p>
                  </a:txBody>
                  <a:tcPr marL="28892" marR="95567" marT="38417" marB="38417" anchor="ctr" anchorCtr="0">
                    <a:lnL w="9525" cap="flat" cmpd="sng">
                      <a:solidFill>
                        <a:srgbClr val="E4E4E4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>
                      <a:solidFill>
                        <a:srgbClr val="E4E4E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4E4E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29640">
                <a:tc>
                  <a:txBody>
                    <a:bodyPr/>
                    <a:p>
                      <a:pPr marL="0" indent="0" algn="ctr" fontAlgn="ctr">
                        <a:lnSpc>
                          <a:spcPts val="1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57585A"/>
                          </a:solidFill>
                          <a:latin typeface="Source Sans Pro"/>
                          <a:ea typeface="Source Sans Pro"/>
                        </a:rPr>
                        <a:t>22/23</a:t>
                      </a:r>
                      <a:endParaRPr sz="1100" b="0" i="0">
                        <a:solidFill>
                          <a:srgbClr val="57585A"/>
                        </a:solidFill>
                        <a:latin typeface="Source Sans Pro"/>
                        <a:ea typeface="Source Sans Pro"/>
                      </a:endParaRPr>
                    </a:p>
                  </a:txBody>
                  <a:tcPr marL="38417" marR="38417" marT="38417" marB="38417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4E4E4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4E4E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4E4E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 fontAlgn="ctr">
                        <a:lnSpc>
                          <a:spcPts val="1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57585A"/>
                          </a:solidFill>
                          <a:latin typeface="Source Sans Pro"/>
                          <a:ea typeface="Source Sans Pro"/>
                        </a:rPr>
                        <a:t>muscular problems</a:t>
                      </a:r>
                      <a:endParaRPr sz="1100" b="1" i="0">
                        <a:solidFill>
                          <a:srgbClr val="57585A"/>
                        </a:solidFill>
                        <a:latin typeface="Source Sans Pro"/>
                        <a:ea typeface="Source Sans Pro"/>
                      </a:endParaRPr>
                    </a:p>
                  </a:txBody>
                  <a:tcPr marL="28892" marR="28892" marT="38417" marB="38417" anchor="ctr" anchorCtr="0">
                    <a:lnL w="9525" cap="flat" cmpd="sng">
                      <a:solidFill>
                        <a:srgbClr val="E4E4E4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4E4E4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4E4E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4E4E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>
                        <a:lnSpc>
                          <a:spcPts val="1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57585A"/>
                          </a:solidFill>
                          <a:latin typeface="Source Sans Pro"/>
                          <a:ea typeface="Source Sans Pro"/>
                        </a:rPr>
                        <a:t>09/10/2022</a:t>
                      </a:r>
                      <a:endParaRPr sz="1100" b="0" i="0">
                        <a:solidFill>
                          <a:srgbClr val="57585A"/>
                        </a:solidFill>
                        <a:latin typeface="Source Sans Pro"/>
                        <a:ea typeface="Source Sans Pro"/>
                      </a:endParaRPr>
                    </a:p>
                  </a:txBody>
                  <a:tcPr marL="28892" marR="28892" marT="38417" marB="38417" anchor="ctr" anchorCtr="0">
                    <a:lnL w="9525" cap="flat" cmpd="sng">
                      <a:solidFill>
                        <a:srgbClr val="E4E4E4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4E4E4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4E4E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4E4E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>
                        <a:lnSpc>
                          <a:spcPts val="1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57585A"/>
                          </a:solidFill>
                          <a:latin typeface="Source Sans Pro"/>
                          <a:ea typeface="Source Sans Pro"/>
                        </a:rPr>
                        <a:t>29/12/2022</a:t>
                      </a:r>
                      <a:endParaRPr sz="1100" b="0" i="0">
                        <a:solidFill>
                          <a:srgbClr val="57585A"/>
                        </a:solidFill>
                        <a:latin typeface="Source Sans Pro"/>
                        <a:ea typeface="Source Sans Pro"/>
                      </a:endParaRPr>
                    </a:p>
                  </a:txBody>
                  <a:tcPr marL="28892" marR="28892" marT="38417" marB="38417" anchor="ctr" anchorCtr="0">
                    <a:lnL w="9525" cap="flat" cmpd="sng">
                      <a:solidFill>
                        <a:srgbClr val="E4E4E4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4E4E4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4E4E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4E4E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r" fontAlgn="ctr">
                        <a:lnSpc>
                          <a:spcPts val="1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57585A"/>
                          </a:solidFill>
                          <a:latin typeface="Source Sans Pro"/>
                          <a:ea typeface="Source Sans Pro"/>
                        </a:rPr>
                        <a:t>82 days</a:t>
                      </a:r>
                      <a:endParaRPr sz="1100" b="0" i="0">
                        <a:solidFill>
                          <a:srgbClr val="57585A"/>
                        </a:solidFill>
                        <a:latin typeface="Source Sans Pro"/>
                        <a:ea typeface="Source Sans Pro"/>
                      </a:endParaRPr>
                    </a:p>
                  </a:txBody>
                  <a:tcPr marL="28892" marR="95567" marT="38417" marB="38417" anchor="ctr" anchorCtr="0">
                    <a:lnL w="9525" cap="flat" cmpd="sng">
                      <a:solidFill>
                        <a:srgbClr val="E4E4E4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4E4E4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4E4E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4E4E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r" fontAlgn="ctr">
                        <a:lnSpc>
                          <a:spcPts val="1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sz="1100" b="1" i="0">
                        <a:solidFill>
                          <a:srgbClr val="57585A"/>
                        </a:solidFill>
                        <a:latin typeface="Source Sans Pro"/>
                        <a:ea typeface="Source Sans Pro"/>
                      </a:endParaRPr>
                    </a:p>
                  </a:txBody>
                  <a:tcPr marL="28892" marR="95567" marT="38417" marB="38417" anchor="ctr" anchorCtr="0">
                    <a:lnL w="9525" cap="flat" cmpd="sng">
                      <a:solidFill>
                        <a:srgbClr val="E4E4E4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>
                      <a:solidFill>
                        <a:srgbClr val="E4E4E4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4E4E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BEST ROLES (SUITABLE)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10148570" cy="4953000"/>
          </a:xfrm>
        </p:spPr>
        <p:txBody>
          <a:bodyPr/>
          <a:p>
            <a:pPr marL="0" indent="0">
              <a:buNone/>
            </a:pPr>
            <a:r>
              <a:rPr lang="en-US" alt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it-IT" alt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en-US" alt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Forward</a:t>
            </a:r>
            <a:r>
              <a:rPr lang="it-IT" alt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64</a:t>
            </a:r>
            <a:endParaRPr lang="en-US" alt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alt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Wide Forward</a:t>
            </a:r>
            <a:r>
              <a:rPr lang="it-IT" alt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59.4</a:t>
            </a:r>
            <a:endParaRPr lang="en-US" alt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alt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Attacking Midfielder (AMC)59.3</a:t>
            </a:r>
            <a:endParaRPr lang="en-US" alt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alt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Second Striker</a:t>
            </a:r>
            <a:r>
              <a:rPr lang="it-IT" alt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59.3</a:t>
            </a:r>
            <a:endParaRPr lang="en-US" alt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alt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Inside Forward</a:t>
            </a:r>
            <a:r>
              <a:rPr lang="it-IT" alt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59.3</a:t>
            </a:r>
            <a:endParaRPr lang="en-US" alt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0" indent="0">
              <a:buNone/>
            </a:pPr>
            <a:r>
              <a:rPr lang="it-IT" altLang="en-US"/>
              <a:t> </a:t>
            </a:r>
            <a:endParaRPr lang="it-IT" altLang="en-US"/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 </a:t>
            </a:r>
            <a:endParaRPr lang="it-IT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32535"/>
            <a:ext cx="10732135" cy="4895215"/>
          </a:xfrm>
        </p:spPr>
        <p:txBody>
          <a:bodyPr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STATUS ABILITY GLOBAL </a:t>
            </a: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    </a:t>
            </a:r>
            <a:endParaRPr 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68/100</a:t>
            </a:r>
            <a:endParaRPr 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OVERALL PREVIEW </a:t>
            </a: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 </a:t>
            </a: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it-IT" altLang="en-US" b="1" i="0" u="none" strike="noStrike" kern="1200" cap="none" spc="0" normalizeH="0" baseline="0" noProof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72/100</a:t>
            </a:r>
            <a:endParaRPr kumimoji="0" lang="it-IT" altLang="en-US" b="1" i="0" u="none" strike="noStrike" kern="1200" cap="none" spc="0" normalizeH="0" baseline="0" noProof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The parameters indicate that it is similar to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10695305" cy="4953000"/>
          </a:xfrm>
        </p:spPr>
        <p:txBody>
          <a:bodyPr/>
          <a:p>
            <a:pPr marL="0" indent="0">
              <a:buNone/>
            </a:pPr>
            <a:r>
              <a:rPr lang="en-US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Wout Weghorst</a:t>
            </a: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</a:t>
            </a:r>
            <a:r>
              <a:rPr lang="en-US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</a:t>
            </a: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</a:t>
            </a:r>
            <a:r>
              <a:rPr lang="en-US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Ajax</a:t>
            </a:r>
            <a:endParaRPr lang="en-US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Yussuf Poulsen</a:t>
            </a: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</a:t>
            </a:r>
            <a:r>
              <a:rPr lang="en-US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</a:t>
            </a: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</a:t>
            </a:r>
            <a:r>
              <a:rPr lang="en-US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Hamburg SV</a:t>
            </a:r>
            <a:endParaRPr lang="en-US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US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Baghdad Bounedjah</a:t>
            </a: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</a:t>
            </a:r>
            <a:r>
              <a:rPr lang="en-US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</a:t>
            </a: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</a:t>
            </a:r>
            <a:r>
              <a:rPr lang="en-US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Al-Shamal</a:t>
            </a:r>
            <a:endParaRPr lang="en-US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US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Abdón Prats</a:t>
            </a: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 </a:t>
            </a:r>
            <a:r>
              <a:rPr lang="en-US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</a:t>
            </a: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</a:t>
            </a:r>
            <a:r>
              <a:rPr lang="en-US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Mallorca</a:t>
            </a:r>
            <a:endParaRPr lang="en-US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 </a:t>
            </a:r>
            <a:endParaRPr lang="it-IT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11097260" cy="4953000"/>
          </a:xfrm>
        </p:spPr>
        <p:txBody>
          <a:bodyPr/>
          <a:p>
            <a:pPr marL="0" indent="0" fontAlgn="base">
              <a:buNone/>
            </a:pPr>
            <a:r>
              <a:rPr lang="it-IT" altLang="en-US"/>
              <a:t> </a:t>
            </a:r>
            <a:r>
              <a:rPr lang="en-US" b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current player value</a:t>
            </a:r>
            <a:r>
              <a:rPr lang="it-IT" altLang="en-US">
                <a:highlight>
                  <a:srgbClr val="00FFFF"/>
                </a:highlight>
                <a:sym typeface="+mn-ea"/>
              </a:rPr>
              <a:t> </a:t>
            </a:r>
            <a:endParaRPr lang="it-IT" altLang="en-US" strike="noStrike" noProof="1">
              <a:highlight>
                <a:srgbClr val="00FFFF"/>
              </a:highlight>
            </a:endParaRPr>
          </a:p>
          <a:p>
            <a:pPr marL="0" indent="0" fontAlgn="base">
              <a:buNone/>
            </a:pPr>
            <a:r>
              <a:rPr lang="it-IT" altLang="en-US">
                <a:sym typeface="+mn-ea"/>
              </a:rPr>
              <a:t> </a:t>
            </a:r>
            <a:r>
              <a:rPr lang="en-US" altLang="en-US" strike="noStrike" noProof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sym typeface="+mn-ea"/>
              </a:rPr>
              <a:t>€ 1.400.000</a:t>
            </a:r>
            <a:endParaRPr lang="en-US" altLang="en-US" strike="noStrike" noProof="1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sym typeface="+mn-ea"/>
            </a:endParaRPr>
          </a:p>
          <a:p>
            <a:pPr marL="0" indent="0" fontAlgn="base">
              <a:buNone/>
            </a:pPr>
            <a:r>
              <a:rPr lang="it-IT" altLang="en-US" b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potential future value</a:t>
            </a:r>
            <a:endParaRPr lang="it-IT" altLang="en-US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sym typeface="+mn-ea"/>
            </a:endParaRPr>
          </a:p>
          <a:p>
            <a:pPr marL="0" indent="0" fontAlgn="base">
              <a:buNone/>
            </a:pPr>
            <a:r>
              <a:rPr lang="en-US" altLang="en-US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sym typeface="+mn-ea"/>
              </a:rPr>
              <a:t>€ 1.</a:t>
            </a:r>
            <a:r>
              <a:rPr lang="it-IT" altLang="en-US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sym typeface="+mn-ea"/>
              </a:rPr>
              <a:t>8</a:t>
            </a:r>
            <a:r>
              <a:rPr lang="en-US" altLang="en-US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sym typeface="+mn-ea"/>
              </a:rPr>
              <a:t>00.000</a:t>
            </a:r>
            <a:endParaRPr lang="en-US" altLang="en-US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sym typeface="+mn-ea"/>
            </a:endParaRPr>
          </a:p>
          <a:p>
            <a:pPr marL="0" indent="0" fontAlgn="base">
              <a:buNone/>
            </a:pPr>
            <a:endParaRPr lang="en-US" altLang="en-US" sz="180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  <a:sym typeface="+mn-ea"/>
            </a:endParaRPr>
          </a:p>
          <a:p>
            <a:pPr marL="0" indent="0" fontAlgn="base">
              <a:buNone/>
            </a:pPr>
            <a:endParaRPr lang="en-US" altLang="en-US" sz="180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  <a:sym typeface="+mn-ea"/>
            </a:endParaRPr>
          </a:p>
          <a:p>
            <a:pPr marL="0" indent="0" fontAlgn="base">
              <a:buNone/>
            </a:pPr>
            <a:r>
              <a:rPr lang="en-US" altLang="en-US" sz="180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sym typeface="+mn-ea"/>
              </a:rPr>
              <a:t>Based on the rating of his best role (C. Forward: 64) and adjusted for elite physical attributes such as Natural Fitness (90) and Work Rate (90). He is a finished product</a:t>
            </a:r>
            <a:endParaRPr lang="en-US" altLang="en-US" sz="180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  <a:sym typeface="+mn-ea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0" indent="0">
              <a:buNone/>
            </a:pPr>
            <a:r>
              <a:rPr lang="it-IT" altLang="en-US"/>
              <a:t> </a:t>
            </a:r>
            <a:endParaRPr lang="it-IT" altLang="en-US"/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Text Box 4"/>
          <p:cNvSpPr txBox="1"/>
          <p:nvPr/>
        </p:nvSpPr>
        <p:spPr>
          <a:xfrm>
            <a:off x="612775" y="6481445"/>
            <a:ext cx="25152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fld id="{63A1C593-65D0-4073-BCC9-577B9352EA97}" type="datetime2">
              <a:rPr lang="en-US" smtClean="0"/>
            </a:fld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6660515" y="6481445"/>
            <a:ext cx="18973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it-IT" altLang="en-US">
                <a:effectLst>
                  <a:reflection blurRad="6350" stA="50000" endA="300" endPos="50000" dist="29997" dir="5400000" sy="-100000" algn="bl" rotWithShape="0"/>
                </a:effectLst>
                <a:latin typeface="Arial" panose="020B0604020202020204" pitchFamily="34" charset="0"/>
                <a:sym typeface="+mn-ea"/>
              </a:rPr>
              <a:t>Giuseppe Macca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>
                <a:solidFill>
                  <a:srgbClr val="FF0000"/>
                </a:solidFill>
              </a:rPr>
              <a:t>Final Consideration </a:t>
            </a:r>
            <a:endParaRPr lang="it-IT" altLang="en-US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4750"/>
            <a:ext cx="10972800" cy="5519420"/>
          </a:xfrm>
        </p:spPr>
        <p:txBody>
          <a:bodyPr/>
          <a:p>
            <a:r>
              <a:rPr lang="en-US" altLang="en-US" sz="140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Peter Shalulile is a mobile and tireless forward, not a static target man.</a:t>
            </a:r>
            <a:endParaRPr lang="en-US" altLang="en-US" sz="1400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endParaRPr lang="en-US" altLang="en-US" sz="1400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r>
              <a:rPr lang="en-US" altLang="en-US" sz="140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Best Roles: C. Forward (64) and Wide Forward (59.4).</a:t>
            </a:r>
            <a:endParaRPr lang="en-US" altLang="en-US" sz="1400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endParaRPr lang="en-US" altLang="en-US" sz="1400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r>
              <a:rPr lang="en-US" altLang="en-US" sz="140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Key Characteristics: Exceptional Work Rate (90), Stamina (85), and Acceleration (80). His Finishing (65) is good, but Passing (35) and Vision (40) are very low.</a:t>
            </a:r>
            <a:endParaRPr lang="en-US" altLang="en-US" sz="1400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endParaRPr lang="en-US" altLang="en-US" sz="1400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r>
              <a:rPr lang="en-US" altLang="en-US" sz="140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Recommended System: He performs best in a high-intensity 4-3-3 or 4-4-2 that requires constant pressing against the opposing defenders. He is not suited for intricate possession play (Tiki-Taka) or as a "Target Man" with his back to goal (Strength 40). He should be played through on goal or utilized to capitalize on second balls.</a:t>
            </a:r>
            <a:endParaRPr lang="en-US" altLang="en-US" sz="1400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r>
              <a:rPr lang="en-US" altLang="en-US" sz="140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Coach Leadership and Management </a:t>
            </a:r>
            <a:r>
              <a:rPr lang="zh-CN" altLang="en-US" sz="140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🧑</a:t>
            </a:r>
            <a:r>
              <a:rPr lang="en-US" altLang="en-US" sz="140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‍</a:t>
            </a:r>
            <a:r>
              <a:rPr lang="zh-CN" altLang="en-US" sz="140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🏫</a:t>
            </a:r>
            <a:endParaRPr lang="zh-CN" altLang="en-US" sz="1400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r>
              <a:rPr lang="en-US" altLang="en-US" sz="140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Leadership: Low (35). He is not a vocal captain or an organizer.</a:t>
            </a:r>
            <a:endParaRPr lang="en-US" altLang="en-US" sz="1400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endParaRPr lang="en-US" altLang="en-US" sz="1400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r>
              <a:rPr lang="en-US" altLang="en-US" sz="140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Management: The coach must use a motivational but directive leadership style. Shalulile needs simple and direct instructions ("run," "press," "shoot"). His Determination (65) and Bravery (65) suggest he will give everything on the field if well-motivated, but he will not tactically guide his teammatesConsidering his age and level:</a:t>
            </a:r>
            <a:endParaRPr lang="en-US" altLang="en-US" sz="1400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endParaRPr lang="en-US" altLang="en-US" sz="1400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r>
              <a:rPr lang="en-US" altLang="en-US" sz="140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Persian Gulf Pro League (Iran) (Sepahan's level).</a:t>
            </a:r>
            <a:endParaRPr lang="en-US" altLang="en-US" sz="1400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endParaRPr lang="en-US" altLang="en-US" sz="1400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r>
              <a:rPr lang="en-US" altLang="en-US" sz="140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Saudi Pro League (Mid-to-low table teams).</a:t>
            </a:r>
            <a:endParaRPr lang="en-US" altLang="en-US" sz="1400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endParaRPr lang="en-US" altLang="en-US" sz="1400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r>
              <a:rPr lang="en-US" altLang="en-US" sz="140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Qatar Stars League.</a:t>
            </a:r>
            <a:endParaRPr lang="en-US" altLang="en-US" sz="1400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endParaRPr lang="en-US" altLang="en-US" sz="1400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>
                <a:solidFill>
                  <a:srgbClr val="FF0000"/>
                </a:solidFill>
              </a:rPr>
              <a:t>Sepahan Final Consideration </a:t>
            </a:r>
            <a:endParaRPr lang="it-IT" altLang="en-US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1800" b="1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In relation to the Sepahan coach's leadership (which often requires tactical discipline and physical reliability) and the playing system:</a:t>
            </a:r>
            <a:endParaRPr lang="en-US" altLang="en-US" sz="1800" b="1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endParaRPr lang="en-US" altLang="en-US" sz="1800" b="1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r>
              <a:rPr lang="en-US" altLang="en-US" sz="1800" b="1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Good, he can raise the team's offensive level immediately.</a:t>
            </a:r>
            <a:endParaRPr lang="en-US" altLang="en-US" sz="1800" b="1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endParaRPr lang="en-US" altLang="en-US" sz="1800" b="1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r>
              <a:rPr lang="en-US" altLang="en-US" sz="1800" b="1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Justification:</a:t>
            </a:r>
            <a:endParaRPr lang="en-US" altLang="en-US" sz="1800" b="1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endParaRPr lang="en-US" altLang="en-US" sz="1800" b="1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r>
              <a:rPr lang="en-US" altLang="en-US" sz="1800" b="1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Peter Shalulile is a striker of undeniable worth for the Asian/African level, guaranteeing goals and exceptional defensive work (pressing) thanks to his Work Rate of 90. The signing of a striker with this profile can add real value to the squad, and he would offer reliable performance in a crucial role (centre-forward) right away. He adapts well to Sepahan's system, providing an offensive target capable of finishing and linking up with a fluid attack.</a:t>
            </a:r>
            <a:endParaRPr lang="en-US" altLang="en-US" sz="1800" b="1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25*146"/>
  <p:tag name="TABLE_ENDDRAG_RECT" val="67*141*825*146"/>
</p:tagLst>
</file>

<file path=ppt/theme/theme1.xml><?xml version="1.0" encoding="utf-8"?>
<a:theme xmlns:a="http://schemas.openxmlformats.org/drawingml/2006/main" name="Green Color">
  <a:themeElements>
    <a:clrScheme name="Green Color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CC3300"/>
      </a:hlink>
      <a:folHlink>
        <a:srgbClr val="996600"/>
      </a:folHlink>
    </a:clrScheme>
    <a:fontScheme name="Green Color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reen Colo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9900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8AB900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3746</Words>
  <Application>WPS Presentation</Application>
  <PresentationFormat>Widescreen</PresentationFormat>
  <Paragraphs>278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SimSun</vt:lpstr>
      <vt:lpstr>Wingdings</vt:lpstr>
      <vt:lpstr>Inter</vt:lpstr>
      <vt:lpstr>Segoe Print</vt:lpstr>
      <vt:lpstr>Source Sans Pro</vt:lpstr>
      <vt:lpstr>Microsoft YaHei</vt:lpstr>
      <vt:lpstr>Arial Unicode MS</vt:lpstr>
      <vt:lpstr>Calibri</vt:lpstr>
      <vt:lpstr>Green Color</vt:lpstr>
      <vt:lpstr>Technical Schedule</vt:lpstr>
      <vt:lpstr>                          Technical Schedule</vt:lpstr>
      <vt:lpstr>SEASON HEATMAP</vt:lpstr>
      <vt:lpstr>PowerPoint 演示文稿</vt:lpstr>
      <vt:lpstr> </vt:lpstr>
      <vt:lpstr> </vt:lpstr>
      <vt:lpstr>INJURY HISTORY and RISK INJURIES</vt:lpstr>
      <vt:lpstr>BEST ROLES (SUITABLE)</vt:lpstr>
      <vt:lpstr> </vt:lpstr>
      <vt:lpstr>The parameters indicate that it is similar to</vt:lpstr>
      <vt:lpstr> </vt:lpstr>
      <vt:lpstr>Final Consideration </vt:lpstr>
      <vt:lpstr>Final Consideration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Technical Schedule</dc:title>
  <dc:creator/>
  <cp:lastModifiedBy>google1597316866</cp:lastModifiedBy>
  <cp:revision>32</cp:revision>
  <dcterms:created xsi:type="dcterms:W3CDTF">2023-06-04T10:59:00Z</dcterms:created>
  <dcterms:modified xsi:type="dcterms:W3CDTF">2025-11-30T12:14:09Z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60AC356AB9204BF2B919A4BB8AE7B43B</vt:lpwstr>
  </property>
  <property fmtid="{D5CDD505-2E9C-101B-9397-08002B2CF9AE}" pid="3" name="KSOProductBuildVer">
    <vt:lpwstr>1033-12.2.0.23131</vt:lpwstr>
  </property>
</Properties>
</file>