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70" r:id="rId5"/>
    <p:sldId id="258" r:id="rId6"/>
    <p:sldId id="259" r:id="rId7"/>
    <p:sldId id="260" r:id="rId8"/>
    <p:sldId id="265" r:id="rId9"/>
    <p:sldId id="261" r:id="rId10"/>
    <p:sldId id="262" r:id="rId11"/>
    <p:sldId id="263" r:id="rId12"/>
    <p:sldId id="264" r:id="rId13"/>
    <p:sldId id="27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24417" y="3717925"/>
            <a:ext cx="10943167" cy="1082675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26533" y="4940300"/>
            <a:ext cx="10949517" cy="981075"/>
          </a:xfrm>
        </p:spPr>
        <p:txBody>
          <a:bodyPr/>
          <a:lstStyle>
            <a:lvl1pPr marL="0" indent="0" algn="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1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jpe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altLang="en-US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effectLst/>
                <a:sym typeface="+mn-ea"/>
              </a:rPr>
              <a:t>Technical Schedule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9115615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8635"/>
          </a:xfrm>
          <a:prstGeom prst="rect">
            <a:avLst/>
          </a:prstGeom>
        </p:spPr>
      </p:pic>
      <p:sp>
        <p:nvSpPr>
          <p:cNvPr id="5" name="Rectangles 4"/>
          <p:cNvSpPr/>
          <p:nvPr/>
        </p:nvSpPr>
        <p:spPr>
          <a:xfrm>
            <a:off x="1447800" y="2829560"/>
            <a:ext cx="9295765" cy="341503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p>
            <a:pPr algn="ctr"/>
            <a:r>
              <a:rPr lang="it-IT" altLang="en-US" sz="72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Giuseppe</a:t>
            </a:r>
            <a:endParaRPr lang="it-IT" altLang="en-US" sz="7200" b="1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  <a:p>
            <a:pPr algn="ctr"/>
            <a:r>
              <a:rPr lang="it-IT" altLang="en-US" sz="72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Macca</a:t>
            </a:r>
            <a:endParaRPr lang="it-IT" altLang="en-US" sz="7200" b="1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  <a:p>
            <a:pPr algn="ctr"/>
            <a:r>
              <a:rPr lang="it-IT" altLang="en-US" sz="72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Analytics Algorithms</a:t>
            </a:r>
            <a:endParaRPr lang="it-IT" altLang="en-US" sz="7200" b="1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pic>
        <p:nvPicPr>
          <p:cNvPr id="6" name="Content Placeholder 5" descr="WhatsApp Image 2024-10-09 at 19.52.34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1365" cy="68573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threePt" dir="t"/>
            </a:scene3d>
          </a:bodyPr>
          <a:p>
            <a:r>
              <a:rPr lang="it-IT" altLang="en-US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640000" algn="bl" rotWithShape="0">
                    <a:schemeClr val="accent1"/>
                  </a:outerShdw>
                </a:effectLst>
              </a:rPr>
              <a:t>                          </a:t>
            </a:r>
            <a:r>
              <a:rPr lang="it-IT" altLang="en-US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640000" algn="bl" rotWithShape="0">
                    <a:schemeClr val="accent1"/>
                  </a:outerShdw>
                </a:effectLst>
                <a:sym typeface="+mn-ea"/>
              </a:rPr>
              <a:t>Technical Schedule</a:t>
            </a:r>
            <a:endParaRPr lang="it-IT" altLang="en-US">
              <a:ln w="12700">
                <a:solidFill>
                  <a:schemeClr val="accent1"/>
                </a:solidFill>
                <a:prstDash val="solid"/>
              </a:ln>
              <a:solidFill>
                <a:srgbClr val="FF0000"/>
              </a:solidFill>
              <a:effectLst>
                <a:outerShdw dist="38100" dir="2640000" algn="bl" rotWithShape="0">
                  <a:schemeClr val="accent1"/>
                </a:outerShdw>
              </a:effectLst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74750"/>
            <a:ext cx="10972800" cy="5427980"/>
          </a:xfrm>
        </p:spPr>
        <p:txBody>
          <a:bodyPr/>
          <a:p>
            <a:pPr marL="0" indent="0">
              <a:buNone/>
            </a:pPr>
            <a:r>
              <a:rPr lang="it-IT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     </a:t>
            </a: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Name:            Jake Hollman     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marL="0" indent="0">
              <a:buNone/>
            </a:pP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     Citizenship:    Australia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marL="0" indent="0">
              <a:buNone/>
            </a:pP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     born:               Aug 26, 2001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marL="0" indent="0">
              <a:buNone/>
            </a:pP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     Position:         MC, AMC   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marL="0" indent="0">
              <a:buNone/>
            </a:pP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     Foot:              right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marL="0" indent="0">
              <a:buNone/>
            </a:pP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     H</a:t>
            </a: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eight:           1,80 m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marL="0" indent="0">
              <a:buNone/>
            </a:pP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     Club:              Macarthur FC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marL="0" indent="0">
              <a:buNone/>
            </a:pP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marL="0" indent="0">
              <a:buNone/>
            </a:pP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6" name="Content Placeholder 5" descr="WhatsApp Image 2024-10-09 at 19.52.34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10882630" y="5517515"/>
            <a:ext cx="1238885" cy="13404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it-IT" altLang="en-US"/>
              <a:t>SEASON HEATMAP</a:t>
            </a:r>
            <a:endParaRPr lang="it-IT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99135" y="1057275"/>
            <a:ext cx="10372090" cy="50444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graphicFrame>
        <p:nvGraphicFramePr>
          <p:cNvPr id="4" name="Content Placeholder 3"/>
          <p:cNvGraphicFramePr/>
          <p:nvPr>
            <p:ph sz="half" idx="1"/>
          </p:nvPr>
        </p:nvGraphicFramePr>
        <p:xfrm>
          <a:off x="762000" y="1155700"/>
          <a:ext cx="10120630" cy="35090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60315"/>
                <a:gridCol w="5060315"/>
              </a:tblGrid>
              <a:tr h="38989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PHYSICAL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8989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Acceleration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45</a:t>
                      </a:r>
                      <a:endParaRPr lang="en-US"/>
                    </a:p>
                  </a:txBody>
                  <a:tcPr/>
                </a:tc>
              </a:tr>
              <a:tr h="38989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Agility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60</a:t>
                      </a:r>
                      <a:endParaRPr lang="en-US"/>
                    </a:p>
                  </a:txBody>
                  <a:tcPr/>
                </a:tc>
              </a:tr>
              <a:tr h="38989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Balance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55</a:t>
                      </a:r>
                      <a:endParaRPr lang="en-US"/>
                    </a:p>
                  </a:txBody>
                  <a:tcPr/>
                </a:tc>
              </a:tr>
              <a:tr h="38989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Jumping Reach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50</a:t>
                      </a:r>
                      <a:endParaRPr lang="en-US"/>
                    </a:p>
                  </a:txBody>
                  <a:tcPr/>
                </a:tc>
              </a:tr>
              <a:tr h="38989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Natural Fitness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75</a:t>
                      </a:r>
                      <a:endParaRPr lang="en-US"/>
                    </a:p>
                  </a:txBody>
                  <a:tcPr/>
                </a:tc>
              </a:tr>
              <a:tr h="38989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Pace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55</a:t>
                      </a:r>
                      <a:endParaRPr lang="en-US"/>
                    </a:p>
                  </a:txBody>
                  <a:tcPr/>
                </a:tc>
              </a:tr>
              <a:tr h="38989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Stamina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40</a:t>
                      </a:r>
                      <a:endParaRPr lang="en-US"/>
                    </a:p>
                  </a:txBody>
                  <a:tcPr/>
                </a:tc>
              </a:tr>
              <a:tr h="38989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Strength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45</a:t>
                      </a: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3" name="Content Placeholder 5" descr="WhatsApp Image 2024-10-09 at 19.52.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2630" y="5517515"/>
            <a:ext cx="1238885" cy="134048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it-IT" altLang="en-US"/>
              <a:t> </a:t>
            </a:r>
            <a:endParaRPr lang="it-IT" altLang="en-US"/>
          </a:p>
        </p:txBody>
      </p:sp>
      <p:graphicFrame>
        <p:nvGraphicFramePr>
          <p:cNvPr id="5" name="Content Placeholder 4"/>
          <p:cNvGraphicFramePr/>
          <p:nvPr>
            <p:ph sz="half" idx="1"/>
          </p:nvPr>
        </p:nvGraphicFramePr>
        <p:xfrm>
          <a:off x="609600" y="288925"/>
          <a:ext cx="10272395" cy="556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6355"/>
                <a:gridCol w="5146040"/>
              </a:tblGrid>
              <a:tr h="3708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MENTAL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Aggression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75</a:t>
                      </a:r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Anticipation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40</a:t>
                      </a:r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Bravery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40</a:t>
                      </a:r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Composure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65</a:t>
                      </a:r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Concentration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60</a:t>
                      </a:r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Decisions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45</a:t>
                      </a:r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Determination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15</a:t>
                      </a:r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Flair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35</a:t>
                      </a:r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Leadership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35</a:t>
                      </a:r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Off the Ball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60</a:t>
                      </a:r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Positioning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60</a:t>
                      </a:r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Teamwork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75</a:t>
                      </a:r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Vision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45</a:t>
                      </a:r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Work Rate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60</a:t>
                      </a: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519410" y="1174750"/>
            <a:ext cx="1062990" cy="4953000"/>
          </a:xfrm>
        </p:spPr>
        <p:txBody>
          <a:bodyPr/>
          <a:p>
            <a:pPr marL="0" indent="0">
              <a:buNone/>
            </a:pPr>
            <a:r>
              <a:rPr lang="it-IT" altLang="en-US"/>
              <a:t>  </a:t>
            </a:r>
            <a:endParaRPr lang="it-IT" altLang="en-US"/>
          </a:p>
        </p:txBody>
      </p:sp>
      <p:pic>
        <p:nvPicPr>
          <p:cNvPr id="3" name="Content Placeholder 5" descr="WhatsApp Image 2024-10-09 at 19.52.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2630" y="5851525"/>
            <a:ext cx="1238885" cy="10064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it-IT" altLang="en-US"/>
              <a:t> </a:t>
            </a:r>
            <a:endParaRPr lang="it-IT" altLang="en-US"/>
          </a:p>
        </p:txBody>
      </p:sp>
      <p:graphicFrame>
        <p:nvGraphicFramePr>
          <p:cNvPr id="5" name="Content Placeholder 4"/>
          <p:cNvGraphicFramePr/>
          <p:nvPr>
            <p:ph sz="half" idx="1"/>
          </p:nvPr>
        </p:nvGraphicFramePr>
        <p:xfrm>
          <a:off x="609600" y="269875"/>
          <a:ext cx="10274300" cy="55340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37150"/>
                <a:gridCol w="5137150"/>
              </a:tblGrid>
              <a:tr h="36893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TECHNICAL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6893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Corners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35</a:t>
                      </a:r>
                      <a:endParaRPr lang="en-US"/>
                    </a:p>
                  </a:txBody>
                  <a:tcPr/>
                </a:tc>
              </a:tr>
              <a:tr h="36893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Crossing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50</a:t>
                      </a:r>
                      <a:endParaRPr lang="en-US"/>
                    </a:p>
                  </a:txBody>
                  <a:tcPr/>
                </a:tc>
              </a:tr>
              <a:tr h="36893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Dribbling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45</a:t>
                      </a:r>
                      <a:endParaRPr lang="en-US"/>
                    </a:p>
                  </a:txBody>
                  <a:tcPr/>
                </a:tc>
              </a:tr>
              <a:tr h="36893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Finishing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60</a:t>
                      </a:r>
                      <a:endParaRPr lang="en-US"/>
                    </a:p>
                  </a:txBody>
                  <a:tcPr/>
                </a:tc>
              </a:tr>
              <a:tr h="36893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First Touch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80</a:t>
                      </a:r>
                      <a:endParaRPr lang="en-US"/>
                    </a:p>
                  </a:txBody>
                  <a:tcPr/>
                </a:tc>
              </a:tr>
              <a:tr h="36893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Free Kick Taking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45</a:t>
                      </a:r>
                      <a:endParaRPr lang="en-US"/>
                    </a:p>
                  </a:txBody>
                  <a:tcPr/>
                </a:tc>
              </a:tr>
              <a:tr h="36893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Heading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50</a:t>
                      </a:r>
                      <a:endParaRPr lang="en-US"/>
                    </a:p>
                  </a:txBody>
                  <a:tcPr/>
                </a:tc>
              </a:tr>
              <a:tr h="36893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Long Shots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60</a:t>
                      </a:r>
                      <a:endParaRPr lang="en-US"/>
                    </a:p>
                  </a:txBody>
                  <a:tcPr/>
                </a:tc>
              </a:tr>
              <a:tr h="36893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Long Throws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40</a:t>
                      </a:r>
                      <a:endParaRPr lang="en-US"/>
                    </a:p>
                  </a:txBody>
                  <a:tcPr/>
                </a:tc>
              </a:tr>
              <a:tr h="36893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Marking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45</a:t>
                      </a:r>
                      <a:endParaRPr lang="en-US"/>
                    </a:p>
                  </a:txBody>
                  <a:tcPr/>
                </a:tc>
              </a:tr>
              <a:tr h="36893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Passing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50</a:t>
                      </a:r>
                      <a:endParaRPr lang="en-US"/>
                    </a:p>
                  </a:txBody>
                  <a:tcPr/>
                </a:tc>
              </a:tr>
              <a:tr h="36893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Penalty Taking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35</a:t>
                      </a:r>
                      <a:endParaRPr lang="en-US"/>
                    </a:p>
                  </a:txBody>
                  <a:tcPr/>
                </a:tc>
              </a:tr>
              <a:tr h="36893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Tackling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55</a:t>
                      </a:r>
                      <a:endParaRPr lang="en-US"/>
                    </a:p>
                  </a:txBody>
                  <a:tcPr/>
                </a:tc>
              </a:tr>
              <a:tr h="36893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Technique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60</a:t>
                      </a: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65945" y="1174750"/>
            <a:ext cx="2116455" cy="4953000"/>
          </a:xfrm>
        </p:spPr>
        <p:txBody>
          <a:bodyPr/>
          <a:p>
            <a:pPr marL="0" indent="0">
              <a:buNone/>
            </a:pPr>
            <a:r>
              <a:rPr lang="it-IT" altLang="en-US"/>
              <a:t> </a:t>
            </a:r>
            <a:endParaRPr lang="it-IT" altLang="en-US"/>
          </a:p>
        </p:txBody>
      </p:sp>
      <p:pic>
        <p:nvPicPr>
          <p:cNvPr id="3" name="Content Placeholder 5" descr="WhatsApp Image 2024-10-09 at 19.52.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2630" y="5803265"/>
            <a:ext cx="1238885" cy="105473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>
                <a:solidFill>
                  <a:srgbClr val="FF0000"/>
                </a:solidFill>
              </a:rPr>
              <a:t>INJURY HISTORY</a:t>
            </a:r>
            <a:endParaRPr lang="en-US" b="1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10713720" cy="4953000"/>
          </a:xfrm>
        </p:spPr>
        <p:txBody>
          <a:bodyPr/>
          <a:p>
            <a:pPr marL="0" indent="0">
              <a:buNone/>
            </a:pPr>
            <a:r>
              <a:rPr lang="it-IT" altLang="en-US"/>
              <a:t>		</a:t>
            </a:r>
            <a:r>
              <a:rPr lang="it-IT" altLang="en-US" sz="2000"/>
              <a:t>Injury Risk (history and prediction)</a:t>
            </a:r>
            <a:endParaRPr lang="it-IT" altLang="en-US" sz="2000"/>
          </a:p>
          <a:p>
            <a:pPr marL="0" indent="0">
              <a:buNone/>
            </a:pPr>
            <a:r>
              <a:rPr lang="it-IT" altLang="en-US" sz="2000"/>
              <a:t>Very low</a:t>
            </a:r>
            <a:endParaRPr lang="it-IT" altLang="en-US" sz="2000"/>
          </a:p>
          <a:p>
            <a:pPr marL="0" indent="0">
              <a:buNone/>
            </a:pPr>
            <a:endParaRPr lang="it-IT" altLang="en-US" sz="2000"/>
          </a:p>
          <a:p>
            <a:pPr marL="0" indent="0">
              <a:buNone/>
            </a:pPr>
            <a:r>
              <a:rPr lang="it-IT" altLang="en-US" sz="2000"/>
              <a:t>📌 History: no injuries recorded on his technical sheet.</a:t>
            </a:r>
            <a:endParaRPr lang="it-IT" altLang="en-US" sz="2000"/>
          </a:p>
          <a:p>
            <a:pPr marL="0" indent="0">
              <a:buNone/>
            </a:pPr>
            <a:endParaRPr lang="it-IT" altLang="en-US" sz="2000"/>
          </a:p>
          <a:p>
            <a:pPr marL="0" indent="0">
              <a:buNone/>
            </a:pPr>
            <a:r>
              <a:rPr lang="it-IT" altLang="en-US" sz="2000"/>
              <a:t>📌 No significant or chronic injuries found online.</a:t>
            </a:r>
            <a:endParaRPr lang="it-IT" altLang="en-US" sz="2000"/>
          </a:p>
          <a:p>
            <a:pPr marL="0" indent="0">
              <a:buNone/>
            </a:pPr>
            <a:endParaRPr lang="it-IT" altLang="en-US" sz="2000"/>
          </a:p>
          <a:p>
            <a:pPr marL="0" indent="0">
              <a:buNone/>
            </a:pPr>
            <a:r>
              <a:rPr lang="it-IT" altLang="en-US" sz="2000"/>
              <a:t>📌 Type of play (disciplined midfielder) does not expose him to particular stress.</a:t>
            </a:r>
            <a:endParaRPr lang="it-IT" altLang="en-US" sz="2000"/>
          </a:p>
          <a:p>
            <a:pPr marL="0" indent="0">
              <a:buNone/>
            </a:pPr>
            <a:r>
              <a:rPr lang="it-IT" altLang="en-US" sz="2000"/>
              <a:t>✅ % of matches missed due to injury in the last 5 years: 0%</a:t>
            </a:r>
            <a:endParaRPr lang="it-IT" altLang="en-US" sz="2000"/>
          </a:p>
          <a:p>
            <a:pPr marL="0" indent="0">
              <a:buNone/>
            </a:pPr>
            <a:endParaRPr lang="it-IT" altLang="en-US" sz="2000"/>
          </a:p>
          <a:p>
            <a:pPr marL="0" indent="0">
              <a:buNone/>
            </a:pPr>
            <a:r>
              <a:rPr lang="it-IT" altLang="en-US" sz="2000"/>
              <a:t>➡️ Excellent data, a very solid profile physically.</a:t>
            </a:r>
            <a:endParaRPr lang="it-IT" altLang="en-US" sz="2000"/>
          </a:p>
        </p:txBody>
      </p:sp>
      <p:pic>
        <p:nvPicPr>
          <p:cNvPr id="6" name="Content Placeholder 5" descr="WhatsApp Image 2024-10-09 at 19.52.34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10882630" y="5517515"/>
            <a:ext cx="1238885" cy="134048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BEST ROLES (SUITABLE)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10148570" cy="4953000"/>
          </a:xfrm>
        </p:spPr>
        <p:txBody>
          <a:bodyPr/>
          <a:p>
            <a:pPr marL="0" indent="0">
              <a:buNone/>
            </a:pPr>
            <a:r>
              <a:rPr lang="en-US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Central Midfielder (Defend)58.3</a:t>
            </a:r>
            <a:endParaRPr lang="en-US" b="1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innerShdw blurRad="177800">
                  <a:schemeClr val="accent3">
                    <a:lumMod val="50000"/>
                  </a:schemeClr>
                </a:innerShdw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Central Midfielder (Support)58.1</a:t>
            </a:r>
            <a:endParaRPr lang="en-US" b="1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innerShdw blurRad="177800">
                  <a:schemeClr val="accent3">
                    <a:lumMod val="50000"/>
                  </a:schemeClr>
                </a:innerShdw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Deep-lying Playmaker (Support)57.5</a:t>
            </a:r>
            <a:endParaRPr lang="en-US" b="1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innerShdw blurRad="177800">
                  <a:schemeClr val="accent3">
                    <a:lumMod val="50000"/>
                  </a:schemeClr>
                </a:innerShdw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Central Midfielder (Attack)57.1</a:t>
            </a:r>
            <a:endParaRPr lang="en-US" b="1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innerShdw blurRad="177800">
                  <a:schemeClr val="accent3">
                    <a:lumMod val="50000"/>
                  </a:schemeClr>
                </a:innerShdw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Deep-lying Playmaker (Defend)57</a:t>
            </a:r>
            <a:endParaRPr lang="en-US" b="1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innerShdw blurRad="177800">
                  <a:schemeClr val="accent3">
                    <a:lumMod val="50000"/>
                  </a:schemeClr>
                </a:innerShdw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p>
            <a:pPr marL="0" indent="0">
              <a:buNone/>
            </a:pPr>
            <a:r>
              <a:rPr lang="it-IT" altLang="en-US"/>
              <a:t> </a:t>
            </a:r>
            <a:endParaRPr lang="it-IT" altLang="en-US"/>
          </a:p>
        </p:txBody>
      </p:sp>
      <p:pic>
        <p:nvPicPr>
          <p:cNvPr id="5" name="Content Placeholder 5" descr="WhatsApp Image 2024-10-09 at 19.52.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2630" y="5517515"/>
            <a:ext cx="1238885" cy="134048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it-IT" altLang="en-US"/>
              <a:t> </a:t>
            </a:r>
            <a:endParaRPr lang="it-IT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232535"/>
            <a:ext cx="10732135" cy="4895215"/>
          </a:xfrm>
        </p:spPr>
        <p:txBody>
          <a:bodyPr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STATUS ABILITY GLOBAL </a:t>
            </a:r>
            <a:r>
              <a:rPr lang="it-IT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     </a:t>
            </a:r>
            <a:endParaRPr 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it-IT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61/100</a:t>
            </a:r>
            <a:endParaRPr 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OVERALL PREVIEW </a:t>
            </a:r>
            <a:r>
              <a:rPr lang="it-IT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  </a:t>
            </a:r>
            <a:endParaRPr lang="it-IT" alt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it-IT" altLang="en-US" b="1" i="0" u="none" strike="noStrike" kern="1200" cap="none" spc="0" normalizeH="0" baseline="0" noProof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74/100</a:t>
            </a:r>
            <a:endParaRPr kumimoji="0" lang="it-IT" altLang="en-US" b="1" i="0" u="none" strike="noStrike" kern="1200" cap="none" spc="0" normalizeH="0" baseline="0" noProof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cs"/>
            </a:endParaRPr>
          </a:p>
        </p:txBody>
      </p:sp>
      <p:pic>
        <p:nvPicPr>
          <p:cNvPr id="4" name="Content Placeholder 3" descr="WhatsApp Image 2024-10-09 at 19.52.34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10882630" y="5517515"/>
            <a:ext cx="1238885" cy="13404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The parameters indicate that it is similar to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10695305" cy="4953000"/>
          </a:xfrm>
        </p:spPr>
        <p:txBody>
          <a:bodyPr/>
          <a:p>
            <a:pPr marL="0" indent="0">
              <a:buNone/>
            </a:pPr>
            <a:r>
              <a:rPr lang="it-IT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Pará                         DM, MC                   Juventude</a:t>
            </a:r>
            <a:endParaRPr lang="it-IT" alt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it-IT" alt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it-IT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Petr Pudhorocký    MC, AMC            Hradec Kralové</a:t>
            </a:r>
            <a:endParaRPr lang="it-IT" alt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it-IT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it-IT" alt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it-IT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Mads Larsen          DM, MC, MR, AMC    Silkeborg IF</a:t>
            </a:r>
            <a:endParaRPr lang="it-IT" alt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Content Placeholder 3" descr="WhatsApp Image 2024-10-09 at 19.52.34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10882630" y="5517515"/>
            <a:ext cx="1238885" cy="13404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it-IT" altLang="en-US"/>
              <a:t> </a:t>
            </a:r>
            <a:endParaRPr lang="it-IT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447040"/>
            <a:ext cx="11097260" cy="5680710"/>
          </a:xfrm>
        </p:spPr>
        <p:txBody>
          <a:bodyPr/>
          <a:p>
            <a:pPr marL="0" indent="0" fontAlgn="base">
              <a:buNone/>
            </a:pPr>
            <a:r>
              <a:rPr lang="it-IT" altLang="en-US"/>
              <a:t> </a:t>
            </a:r>
            <a:r>
              <a:rPr lang="en-US" b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current player value</a:t>
            </a:r>
            <a:r>
              <a:rPr lang="it-IT" altLang="en-US">
                <a:highlight>
                  <a:srgbClr val="00FFFF"/>
                </a:highlight>
                <a:sym typeface="+mn-ea"/>
              </a:rPr>
              <a:t> </a:t>
            </a:r>
            <a:endParaRPr lang="it-IT" altLang="en-US">
              <a:highlight>
                <a:srgbClr val="00FFFF"/>
              </a:highlight>
              <a:sym typeface="+mn-ea"/>
            </a:endParaRPr>
          </a:p>
          <a:p>
            <a:pPr marL="0" indent="0" fontAlgn="base">
              <a:buNone/>
            </a:pPr>
            <a:r>
              <a:rPr lang="it-IT" altLang="en-US" strike="noStrike" noProof="1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  <a:sym typeface="+mn-ea"/>
              </a:rPr>
              <a:t>€300,000 – €400,000</a:t>
            </a:r>
            <a:endParaRPr lang="it-IT" altLang="en-US" strike="noStrike" noProof="1">
              <a:sym typeface="+mn-ea"/>
            </a:endParaRPr>
          </a:p>
          <a:p>
            <a:pPr marL="0" indent="0" fontAlgn="base">
              <a:buNone/>
            </a:pPr>
            <a:r>
              <a:rPr lang="it-IT" altLang="en-US" sz="2000" strike="noStrike" noProof="1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  <a:sym typeface="+mn-ea"/>
              </a:rPr>
              <a:t>A player with starting minutes in the Australian top division, a good age (23 years old), but still lacking international exposure. This value reflects his status as a "ready-made player" for similar or slightly higher-level contexts.</a:t>
            </a:r>
            <a:endParaRPr lang="it-IT" altLang="en-US" sz="2000" strike="noStrike" noProof="1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  <a:sym typeface="+mn-ea"/>
            </a:endParaRPr>
          </a:p>
          <a:p>
            <a:pPr marL="0" indent="0" fontAlgn="base">
              <a:buNone/>
            </a:pPr>
            <a:endParaRPr lang="it-IT" altLang="en-US" sz="2000" strike="noStrike" noProof="1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  <a:highlight>
                <a:srgbClr val="00FFFF"/>
              </a:highlight>
              <a:sym typeface="+mn-ea"/>
            </a:endParaRPr>
          </a:p>
          <a:p>
            <a:pPr marL="0" indent="0" fontAlgn="base">
              <a:buNone/>
            </a:pPr>
            <a:endParaRPr lang="it-IT" altLang="en-US" sz="2000" strike="noStrike" noProof="1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  <a:highlight>
                <a:srgbClr val="00FFFF"/>
              </a:highlight>
              <a:sym typeface="+mn-ea"/>
            </a:endParaRPr>
          </a:p>
          <a:p>
            <a:pPr marL="0" indent="0" fontAlgn="base">
              <a:buNone/>
            </a:pPr>
            <a:r>
              <a:rPr lang="it-IT" altLang="en-US" b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potential future value</a:t>
            </a:r>
            <a:endParaRPr lang="it-IT" altLang="en-US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  <a:sym typeface="+mn-ea"/>
            </a:endParaRPr>
          </a:p>
          <a:p>
            <a:pPr marL="0" indent="0" fontAlgn="base">
              <a:buNone/>
            </a:pPr>
            <a:r>
              <a:rPr lang="it-IT" altLang="en-US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sym typeface="+mn-ea"/>
              </a:rPr>
              <a:t> </a:t>
            </a:r>
            <a:r>
              <a:rPr lang="it-IT" altLang="en-US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  <a:sym typeface="+mn-ea"/>
              </a:rPr>
              <a:t>€1.5 – €2 million</a:t>
            </a:r>
            <a:endParaRPr lang="it-IT" altLang="en-US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  <a:sym typeface="+mn-ea"/>
            </a:endParaRPr>
          </a:p>
          <a:p>
            <a:pPr marL="0" indent="0" fontAlgn="base">
              <a:buNone/>
            </a:pPr>
            <a:r>
              <a:rPr lang="it-IT" altLang="en-US" sz="200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  <a:sym typeface="+mn-ea"/>
              </a:rPr>
              <a:t>If he manages to express his full potential, especially in European contexts, he can reach this range in the next 2-3 years. Visibility (national team, continental tournaments) will also be important.</a:t>
            </a:r>
            <a:endParaRPr lang="it-IT" altLang="en-US" sz="200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  <a:sym typeface="+mn-ea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p>
            <a:pPr marL="0" indent="0">
              <a:buNone/>
            </a:pPr>
            <a:r>
              <a:rPr lang="it-IT" altLang="en-US"/>
              <a:t> </a:t>
            </a:r>
            <a:endParaRPr lang="it-IT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612775" y="6481445"/>
            <a:ext cx="251523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fld id="{63A1C593-65D0-4073-BCC9-577B9352EA97}" type="datetime2">
              <a:rPr lang="en-US" smtClean="0"/>
            </a:fld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6660515" y="6481445"/>
            <a:ext cx="18973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it-IT" altLang="en-US">
                <a:effectLst>
                  <a:reflection blurRad="6350" stA="50000" endA="300" endPos="50000" dist="29997" dir="5400000" sy="-100000" algn="bl" rotWithShape="0"/>
                </a:effectLst>
                <a:latin typeface="Arial" panose="020B0604020202020204" pitchFamily="34" charset="0"/>
                <a:sym typeface="+mn-ea"/>
              </a:rPr>
              <a:t>Giuseppe Macca</a:t>
            </a:r>
            <a:endParaRPr lang="en-US"/>
          </a:p>
        </p:txBody>
      </p:sp>
      <p:pic>
        <p:nvPicPr>
          <p:cNvPr id="8" name="Content Placeholder 5" descr="WhatsApp Image 2024-10-09 at 19.52.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2630" y="5517515"/>
            <a:ext cx="1238885" cy="134048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it-IT" altLang="en-US">
                <a:solidFill>
                  <a:srgbClr val="FF0000"/>
                </a:solidFill>
                <a:sym typeface="+mn-ea"/>
              </a:rPr>
              <a:t>Final Consideration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774065"/>
            <a:ext cx="11582400" cy="5812790"/>
          </a:xfrm>
        </p:spPr>
        <p:txBody>
          <a:bodyPr/>
          <a:p>
            <a:r>
              <a:rPr lang="en-US" sz="180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Ideal Playing System</a:t>
            </a:r>
            <a:r>
              <a:rPr lang="it-IT" altLang="en-US" sz="1800"/>
              <a:t> :</a:t>
            </a:r>
            <a:endParaRPr lang="en-US" sz="1800"/>
          </a:p>
          <a:p>
            <a:r>
              <a:rPr lang="en-US" sz="1800"/>
              <a:t>4-3-3 flat: excellent as a supporting central midfielder or deep-lying playmaker.</a:t>
            </a:r>
            <a:endParaRPr lang="en-US" sz="1800"/>
          </a:p>
          <a:p>
            <a:r>
              <a:rPr lang="en-US" sz="1800"/>
              <a:t>4-2-3-1: perfect in a midfield pairing with freedom to dictate play.</a:t>
            </a:r>
            <a:endParaRPr lang="en-US" sz="1800"/>
          </a:p>
          <a:p>
            <a:r>
              <a:rPr lang="en-US" sz="1800"/>
              <a:t>4-1-4-1: central in the block of 2 in front of the defense.</a:t>
            </a:r>
            <a:endParaRPr lang="en-US" sz="1800"/>
          </a:p>
          <a:p>
            <a:r>
              <a:rPr lang="en-US" sz="1800"/>
              <a:t>He is a "system player," disciplined, who performs best in teams with defined structures and controlled tempos.</a:t>
            </a:r>
            <a:endParaRPr lang="en-US" sz="1800"/>
          </a:p>
          <a:p>
            <a:endParaRPr lang="en-US" sz="1800"/>
          </a:p>
          <a:p>
            <a:r>
              <a:rPr lang="en-US" sz="180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Ideal Coach Leadership Type</a:t>
            </a:r>
            <a:r>
              <a:rPr lang="it-IT" altLang="en-US" sz="180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 </a:t>
            </a:r>
            <a:r>
              <a:rPr lang="it-IT" altLang="en-US" sz="1800"/>
              <a:t>:</a:t>
            </a:r>
            <a:endParaRPr lang="en-US" sz="1800"/>
          </a:p>
          <a:p>
            <a:r>
              <a:rPr lang="en-US" sz="1800"/>
              <a:t>Methodical and constructive coach, who gives clear tactical instructions and values disciplined players.</a:t>
            </a:r>
            <a:endParaRPr lang="en-US" sz="1800"/>
          </a:p>
          <a:p>
            <a:r>
              <a:rPr lang="en-US" sz="1800"/>
              <a:t>Not suitable for overly "chaotic" or instinctive environments, but rather for positional football.</a:t>
            </a:r>
            <a:endParaRPr lang="en-US" sz="1800"/>
          </a:p>
          <a:p>
            <a:r>
              <a:rPr lang="en-US" sz="1800"/>
              <a:t>An "organizer" coach rather than a "motivational" one.</a:t>
            </a:r>
            <a:endParaRPr lang="en-US" sz="1800"/>
          </a:p>
          <a:p>
            <a:endParaRPr lang="en-US" sz="1800"/>
          </a:p>
          <a:p>
            <a:r>
              <a:rPr lang="en-US" sz="180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Ideal Leagues for Development or Performance</a:t>
            </a:r>
            <a:r>
              <a:rPr lang="it-IT" altLang="en-US" sz="1800"/>
              <a:t> :</a:t>
            </a:r>
            <a:endParaRPr lang="en-US" sz="1800"/>
          </a:p>
          <a:p>
            <a:r>
              <a:rPr lang="en-US" sz="1800"/>
              <a:t>Eredivisie (Netherlands): excellent for enhancing his passing and reading-of-the-game skills.</a:t>
            </a:r>
            <a:endParaRPr lang="en-US" sz="1800"/>
          </a:p>
          <a:p>
            <a:r>
              <a:rPr lang="en-US" sz="1800"/>
              <a:t>English Championship or Italian Serie B: if he improves intensity and personality.</a:t>
            </a:r>
            <a:endParaRPr lang="en-US" sz="1800"/>
          </a:p>
          <a:p>
            <a:r>
              <a:rPr lang="en-US" sz="1800"/>
              <a:t>Spanish Liga 2 or Belgian Pro League: tactical but technical contexts, suitable for his growth.</a:t>
            </a:r>
            <a:endParaRPr lang="en-US" sz="1800"/>
          </a:p>
          <a:p>
            <a:r>
              <a:rPr lang="en-US" sz="1800"/>
              <a:t>In perspective, he can become a good profile for a mid-to-low table Serie A or Ligue 1 team</a:t>
            </a:r>
            <a:r>
              <a:rPr lang="en-US"/>
              <a:t>.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een Color">
  <a:themeElements>
    <a:clrScheme name="Green Color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9900"/>
      </a:accent1>
      <a:accent2>
        <a:srgbClr val="99CC00"/>
      </a:accent2>
      <a:accent3>
        <a:srgbClr val="FFFFFF"/>
      </a:accent3>
      <a:accent4>
        <a:srgbClr val="000000"/>
      </a:accent4>
      <a:accent5>
        <a:srgbClr val="AACAAA"/>
      </a:accent5>
      <a:accent6>
        <a:srgbClr val="8AB900"/>
      </a:accent6>
      <a:hlink>
        <a:srgbClr val="CC3300"/>
      </a:hlink>
      <a:folHlink>
        <a:srgbClr val="996600"/>
      </a:folHlink>
    </a:clrScheme>
    <a:fontScheme name="Green Color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Green Color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9900"/>
        </a:accent1>
        <a:accent2>
          <a:srgbClr val="99CC00"/>
        </a:accent2>
        <a:accent3>
          <a:srgbClr val="FFFFFF"/>
        </a:accent3>
        <a:accent4>
          <a:srgbClr val="000000"/>
        </a:accent4>
        <a:accent5>
          <a:srgbClr val="AACAAA"/>
        </a:accent5>
        <a:accent6>
          <a:srgbClr val="8AB900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3242</Words>
  <Application>WPS Presentation</Application>
  <PresentationFormat>Widescreen</PresentationFormat>
  <Paragraphs>255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9" baseType="lpstr">
      <vt:lpstr>Arial</vt:lpstr>
      <vt:lpstr>SimSun</vt:lpstr>
      <vt:lpstr>Wingdings</vt:lpstr>
      <vt:lpstr>Microsoft YaHei</vt:lpstr>
      <vt:lpstr>Arial Unicode MS</vt:lpstr>
      <vt:lpstr>Calibri</vt:lpstr>
      <vt:lpstr>Green Color</vt:lpstr>
      <vt:lpstr>Technical Schedule</vt:lpstr>
      <vt:lpstr>                          Technical Schedule</vt:lpstr>
      <vt:lpstr>SEASON HEATMAP</vt:lpstr>
      <vt:lpstr>PowerPoint 演示文稿</vt:lpstr>
      <vt:lpstr> </vt:lpstr>
      <vt:lpstr> </vt:lpstr>
      <vt:lpstr>INJURY HISTORY</vt:lpstr>
      <vt:lpstr>BEST ROLES (SUITABLE)</vt:lpstr>
      <vt:lpstr> </vt:lpstr>
      <vt:lpstr>The parameters indicate that it is similar to</vt:lpstr>
      <vt:lpstr> </vt:lpstr>
      <vt:lpstr>Final Consideration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Technical Schedule</dc:title>
  <dc:creator/>
  <cp:lastModifiedBy>google1597316866</cp:lastModifiedBy>
  <cp:revision>38</cp:revision>
  <dcterms:created xsi:type="dcterms:W3CDTF">2023-06-04T10:59:00Z</dcterms:created>
  <dcterms:modified xsi:type="dcterms:W3CDTF">2025-04-17T13:05:13Z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60AC356AB9204BF2B919A4BB8AE7B43B</vt:lpwstr>
  </property>
  <property fmtid="{D5CDD505-2E9C-101B-9397-08002B2CF9AE}" pid="3" name="KSOProductBuildVer">
    <vt:lpwstr>1033-11.2.0.11486</vt:lpwstr>
  </property>
</Properties>
</file>