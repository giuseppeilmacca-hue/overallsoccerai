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70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3717925"/>
            <a:ext cx="10943167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4940300"/>
            <a:ext cx="10949517" cy="981075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1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ffectLst/>
                <a:sym typeface="+mn-ea"/>
              </a:rPr>
              <a:t>Technical Schedule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9115615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635"/>
          </a:xfrm>
          <a:prstGeom prst="rect">
            <a:avLst/>
          </a:prstGeom>
        </p:spPr>
      </p:pic>
      <p:sp>
        <p:nvSpPr>
          <p:cNvPr id="5" name="Rectangles 4"/>
          <p:cNvSpPr/>
          <p:nvPr/>
        </p:nvSpPr>
        <p:spPr>
          <a:xfrm>
            <a:off x="1447800" y="2829560"/>
            <a:ext cx="9295765" cy="341503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p>
            <a:pPr algn="ctr"/>
            <a:r>
              <a:rPr lang="it-IT" altLang="en-US" sz="72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Giuseppe</a:t>
            </a:r>
            <a:endParaRPr lang="it-IT" altLang="en-US" sz="7200" b="1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  <a:p>
            <a:pPr algn="ctr"/>
            <a:r>
              <a:rPr lang="it-IT" altLang="en-US" sz="72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Macca</a:t>
            </a:r>
            <a:endParaRPr lang="it-IT" altLang="en-US" sz="7200" b="1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  <a:p>
            <a:pPr algn="ctr"/>
            <a:r>
              <a:rPr lang="it-IT" altLang="en-US" sz="72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Analytics Algorithms</a:t>
            </a:r>
            <a:endParaRPr lang="it-IT" altLang="en-US" sz="7200" b="1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p>
            <a:r>
              <a:rPr lang="it-IT" altLang="en-US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                          </a:t>
            </a:r>
            <a:r>
              <a:rPr lang="it-IT" altLang="en-US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sym typeface="+mn-ea"/>
              </a:rPr>
              <a:t>Technical Schedule</a:t>
            </a:r>
            <a:endParaRPr lang="it-IT" altLang="en-US">
              <a:ln w="12700">
                <a:solidFill>
                  <a:schemeClr val="accent1"/>
                </a:solidFill>
                <a:prstDash val="solid"/>
              </a:ln>
              <a:solidFill>
                <a:srgbClr val="FF0000"/>
              </a:solidFill>
              <a:effectLst>
                <a:outerShdw dist="38100" dir="2640000" algn="bl" rotWithShape="0">
                  <a:schemeClr val="accent1"/>
                </a:outerShdw>
              </a:effectLst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74750"/>
            <a:ext cx="10972800" cy="5427980"/>
          </a:xfrm>
        </p:spPr>
        <p:txBody>
          <a:bodyPr/>
          <a:p>
            <a:pPr marL="0" indent="0">
              <a:buNone/>
            </a:pPr>
            <a:r>
              <a:rPr lang="it-IT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</a:t>
            </a: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Name:         Relebohile Mofokeng  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Citizenship:    South Africa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born:              Oct 23, 2004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Position:        MC, AMR, AML, AMC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Foot:             RIGHT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H</a:t>
            </a: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eight:          1,64 M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Club:             Orlando Pirates 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>
              <a:buNone/>
            </a:pP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7" name="Content Placeholder 6" descr="91156155 (2)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SEASON HEATMAP</a:t>
            </a:r>
            <a:endParaRPr lang="it-IT" altLang="en-US"/>
          </a:p>
        </p:txBody>
      </p:sp>
      <p:pic>
        <p:nvPicPr>
          <p:cNvPr id="3" name="Content Placeholder 2" descr="WhatsApp Image 2025-01-17 at 16.18.0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48665" y="1002030"/>
            <a:ext cx="10386695" cy="54108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graphicFrame>
        <p:nvGraphicFramePr>
          <p:cNvPr id="4" name="Content Placeholder 3"/>
          <p:cNvGraphicFramePr/>
          <p:nvPr>
            <p:ph sz="half" idx="1"/>
          </p:nvPr>
        </p:nvGraphicFramePr>
        <p:xfrm>
          <a:off x="762000" y="1155700"/>
          <a:ext cx="10119360" cy="3486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59680"/>
                <a:gridCol w="5059680"/>
              </a:tblGrid>
              <a:tr h="387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PHYSICAL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7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Acceleration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65</a:t>
                      </a:r>
                      <a:endParaRPr lang="en-US"/>
                    </a:p>
                  </a:txBody>
                  <a:tcPr/>
                </a:tc>
              </a:tr>
              <a:tr h="387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Agility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65</a:t>
                      </a:r>
                      <a:endParaRPr lang="en-US"/>
                    </a:p>
                  </a:txBody>
                  <a:tcPr/>
                </a:tc>
              </a:tr>
              <a:tr h="387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Balance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40</a:t>
                      </a:r>
                      <a:endParaRPr lang="en-US"/>
                    </a:p>
                  </a:txBody>
                  <a:tcPr/>
                </a:tc>
              </a:tr>
              <a:tr h="387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Jumping Reach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15</a:t>
                      </a:r>
                      <a:endParaRPr lang="en-US"/>
                    </a:p>
                  </a:txBody>
                  <a:tcPr/>
                </a:tc>
              </a:tr>
              <a:tr h="387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Natural Fitness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60</a:t>
                      </a:r>
                      <a:endParaRPr lang="en-US"/>
                    </a:p>
                  </a:txBody>
                  <a:tcPr/>
                </a:tc>
              </a:tr>
              <a:tr h="387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Pace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65</a:t>
                      </a:r>
                      <a:endParaRPr lang="en-US"/>
                    </a:p>
                  </a:txBody>
                  <a:tcPr/>
                </a:tc>
              </a:tr>
              <a:tr h="387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Stamina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65</a:t>
                      </a:r>
                      <a:endParaRPr lang="en-US"/>
                    </a:p>
                  </a:txBody>
                  <a:tcPr/>
                </a:tc>
              </a:tr>
              <a:tr h="387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Strength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25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Content Placeholder 5" descr="91156155 (2)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 </a:t>
            </a:r>
            <a:endParaRPr lang="it-IT" altLang="en-US"/>
          </a:p>
        </p:txBody>
      </p:sp>
      <p:graphicFrame>
        <p:nvGraphicFramePr>
          <p:cNvPr id="5" name="Content Placeholder 4"/>
          <p:cNvGraphicFramePr/>
          <p:nvPr>
            <p:ph sz="half" idx="1"/>
          </p:nvPr>
        </p:nvGraphicFramePr>
        <p:xfrm>
          <a:off x="609600" y="184150"/>
          <a:ext cx="10972800" cy="5667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240"/>
                <a:gridCol w="5496560"/>
              </a:tblGrid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MENTAL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Aggression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55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Anticipation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40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Bravery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40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Composure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40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Concentration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25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Decisions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45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Determination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45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Flair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65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Leadership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5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Off the Ball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50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Positioning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40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Teamwork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40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Vision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50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Work Rate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55</a:t>
                      </a:r>
                      <a:endParaRPr lang="it-IT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519410" y="1174750"/>
            <a:ext cx="1062990" cy="4953000"/>
          </a:xfrm>
        </p:spPr>
        <p:txBody>
          <a:bodyPr/>
          <a:p>
            <a:pPr marL="0" indent="0">
              <a:buNone/>
            </a:pPr>
            <a:r>
              <a:rPr lang="it-IT" altLang="en-US"/>
              <a:t>  </a:t>
            </a:r>
            <a:endParaRPr lang="it-IT" altLang="en-US"/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 </a:t>
            </a:r>
            <a:endParaRPr lang="it-IT" altLang="en-US"/>
          </a:p>
        </p:txBody>
      </p:sp>
      <p:graphicFrame>
        <p:nvGraphicFramePr>
          <p:cNvPr id="5" name="Content Placeholder 4"/>
          <p:cNvGraphicFramePr/>
          <p:nvPr>
            <p:ph sz="half" idx="1"/>
          </p:nvPr>
        </p:nvGraphicFramePr>
        <p:xfrm>
          <a:off x="609600" y="317500"/>
          <a:ext cx="1090676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3380"/>
                <a:gridCol w="545338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TECHNICAL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Corners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35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Crossing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60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Dribbling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65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Finishing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55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First Touch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65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Free Kick Taking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35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Heading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20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Long Shots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45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Long Throws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35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Marking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25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Passing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40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Penalty Taking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30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Tackling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30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Technique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65</a:t>
                      </a:r>
                      <a:endParaRPr lang="it-IT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5945" y="1174750"/>
            <a:ext cx="2116455" cy="4953000"/>
          </a:xfrm>
        </p:spPr>
        <p:txBody>
          <a:bodyPr/>
          <a:p>
            <a:pPr marL="0" indent="0">
              <a:buNone/>
            </a:pPr>
            <a:r>
              <a:rPr lang="it-IT" altLang="en-US"/>
              <a:t> </a:t>
            </a:r>
            <a:endParaRPr lang="it-IT" altLang="en-US"/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BEST ROLES (SUITABLE)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10148570" cy="4953000"/>
          </a:xfrm>
        </p:spPr>
        <p:txBody>
          <a:bodyPr/>
          <a:p>
            <a:pPr marL="0" indent="0">
              <a:buNone/>
            </a:pPr>
            <a:r>
              <a:rPr 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Winger (Support)60.2</a:t>
            </a:r>
            <a:endParaRPr 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Winger (Attack)59</a:t>
            </a:r>
            <a:endParaRPr 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Inverted Winger (Support)56.4</a:t>
            </a:r>
            <a:endParaRPr 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Inverted Winger (Attack)56.1</a:t>
            </a:r>
            <a:endParaRPr 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Inside Forward (Attack)54.9</a:t>
            </a:r>
            <a:endParaRPr 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pPr marL="0" indent="0">
              <a:buNone/>
            </a:pPr>
            <a:r>
              <a:rPr lang="it-IT" altLang="en-US"/>
              <a:t> </a:t>
            </a:r>
            <a:endParaRPr lang="it-IT" altLang="en-US"/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 </a:t>
            </a:r>
            <a:endParaRPr lang="it-IT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32535"/>
            <a:ext cx="10732135" cy="4895215"/>
          </a:xfrm>
        </p:spPr>
        <p:txBody>
          <a:bodyPr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STATUS ABILITY GLOBAL </a:t>
            </a: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    </a:t>
            </a:r>
            <a:endParaRPr 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51/100</a:t>
            </a:r>
            <a:endParaRPr 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OVERALL PREVIEW </a:t>
            </a: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 </a:t>
            </a: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it-IT" altLang="en-US" b="1" i="0" u="none" strike="noStrike" kern="1200" cap="none" spc="0" normalizeH="0" baseline="0" noProof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70/100</a:t>
            </a:r>
            <a:endParaRPr kumimoji="0" lang="it-IT" altLang="en-US" b="1" i="0" u="none" strike="noStrike" kern="1200" cap="none" spc="0" normalizeH="0" baseline="0" noProof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The parameters indicate that it is similar to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10695305" cy="4953000"/>
          </a:xfrm>
        </p:spPr>
        <p:txBody>
          <a:bodyPr/>
          <a:p>
            <a:pPr marL="0" indent="0">
              <a:buNone/>
            </a:pP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Tomás Rambert          AML                   Independiente</a:t>
            </a: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Tobías Medina            AMC                   San Lorenzo</a:t>
            </a: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Jorge Ortiz               AMR, AML            Univ. Católica</a:t>
            </a: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 </a:t>
            </a:r>
            <a:endParaRPr lang="it-IT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11097260" cy="4953000"/>
          </a:xfrm>
        </p:spPr>
        <p:txBody>
          <a:bodyPr/>
          <a:p>
            <a:pPr marL="0" indent="0" fontAlgn="base">
              <a:buNone/>
            </a:pPr>
            <a:r>
              <a:rPr lang="it-IT" altLang="en-US"/>
              <a:t> </a:t>
            </a:r>
            <a:r>
              <a:rPr lang="en-US" b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current player value</a:t>
            </a:r>
            <a:r>
              <a:rPr lang="it-IT" altLang="en-US">
                <a:highlight>
                  <a:srgbClr val="00FFFF"/>
                </a:highlight>
                <a:sym typeface="+mn-ea"/>
              </a:rPr>
              <a:t> </a:t>
            </a:r>
            <a:endParaRPr lang="it-IT" altLang="en-US" strike="noStrike" noProof="1">
              <a:highlight>
                <a:srgbClr val="00FFFF"/>
              </a:highlight>
            </a:endParaRPr>
          </a:p>
          <a:p>
            <a:pPr marL="0" indent="0" fontAlgn="base">
              <a:buNone/>
            </a:pPr>
            <a:r>
              <a:rPr lang="it-IT" altLang="en-US">
                <a:sym typeface="+mn-ea"/>
              </a:rPr>
              <a:t> </a:t>
            </a:r>
            <a:r>
              <a:rPr lang="it-IT" altLang="en-US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sym typeface="+mn-ea"/>
              </a:rPr>
              <a:t>€ 364,370</a:t>
            </a:r>
            <a:endParaRPr lang="it-IT" altLang="en-US">
              <a:sym typeface="+mn-ea"/>
            </a:endParaRPr>
          </a:p>
          <a:p>
            <a:pPr marL="0" indent="0" fontAlgn="base">
              <a:buNone/>
            </a:pPr>
            <a:endParaRPr lang="it-IT" altLang="en-US" strike="noStrike" noProof="1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sym typeface="+mn-ea"/>
            </a:endParaRPr>
          </a:p>
          <a:p>
            <a:pPr marL="0" indent="0" fontAlgn="base">
              <a:buNone/>
            </a:pPr>
            <a:r>
              <a:rPr lang="it-IT" altLang="en-US" b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potential future value</a:t>
            </a:r>
            <a:endParaRPr lang="it-IT" altLang="en-US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sym typeface="+mn-ea"/>
            </a:endParaRPr>
          </a:p>
          <a:p>
            <a:pPr marL="0" indent="0" fontAlgn="base">
              <a:buNone/>
            </a:pPr>
            <a:r>
              <a:rPr lang="it-IT" altLang="en-US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sym typeface="+mn-ea"/>
              </a:rPr>
              <a:t>€ 1,614,022</a:t>
            </a:r>
            <a:endParaRPr lang="it-IT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pPr marL="0" indent="0">
              <a:buNone/>
            </a:pPr>
            <a:r>
              <a:rPr lang="it-IT" altLang="en-US"/>
              <a:t> </a:t>
            </a:r>
            <a:endParaRPr lang="it-IT" altLang="en-US"/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Text Box 4"/>
          <p:cNvSpPr txBox="1"/>
          <p:nvPr/>
        </p:nvSpPr>
        <p:spPr>
          <a:xfrm>
            <a:off x="612775" y="6481445"/>
            <a:ext cx="25152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fld id="{63A1C593-65D0-4073-BCC9-577B9352EA97}" type="datetime2">
              <a:rPr lang="en-US" smtClean="0"/>
            </a:fld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6660515" y="6481445"/>
            <a:ext cx="18973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it-IT" altLang="en-US">
                <a:effectLst>
                  <a:reflection blurRad="6350" stA="50000" endA="300" endPos="50000" dist="29997" dir="5400000" sy="-100000" algn="bl" rotWithShape="0"/>
                </a:effectLst>
                <a:latin typeface="Arial" panose="020B0604020202020204" pitchFamily="34" charset="0"/>
                <a:sym typeface="+mn-ea"/>
              </a:rPr>
              <a:t>Giuseppe Macca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theme/theme1.xml><?xml version="1.0" encoding="utf-8"?>
<a:theme xmlns:a="http://schemas.openxmlformats.org/drawingml/2006/main" name="Green Color">
  <a:themeElements>
    <a:clrScheme name="Green Color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CC3300"/>
      </a:hlink>
      <a:folHlink>
        <a:srgbClr val="996600"/>
      </a:folHlink>
    </a:clrScheme>
    <a:fontScheme name="Green Color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reen Colo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9900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8AB900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1360</Words>
  <Application>WPS Presentation</Application>
  <PresentationFormat>Widescreen</PresentationFormat>
  <Paragraphs>220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Arial</vt:lpstr>
      <vt:lpstr>SimSun</vt:lpstr>
      <vt:lpstr>Wingdings</vt:lpstr>
      <vt:lpstr>Microsoft YaHei</vt:lpstr>
      <vt:lpstr>Arial Unicode MS</vt:lpstr>
      <vt:lpstr>Calibri</vt:lpstr>
      <vt:lpstr>Green Color</vt:lpstr>
      <vt:lpstr>Technical Schedule</vt:lpstr>
      <vt:lpstr>                          Technical Schedule</vt:lpstr>
      <vt:lpstr>SEASON HEATMAP</vt:lpstr>
      <vt:lpstr>PowerPoint 演示文稿</vt:lpstr>
      <vt:lpstr> </vt:lpstr>
      <vt:lpstr> </vt:lpstr>
      <vt:lpstr>BEST ROLES (SUITABLE)</vt:lpstr>
      <vt:lpstr> </vt:lpstr>
      <vt:lpstr>The parameters indicate that it is similar to</vt:lpstr>
      <vt:lpstr>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Technical Schedule</dc:title>
  <dc:creator/>
  <cp:lastModifiedBy>google1597316866</cp:lastModifiedBy>
  <cp:revision>20</cp:revision>
  <dcterms:created xsi:type="dcterms:W3CDTF">2023-06-04T10:59:00Z</dcterms:created>
  <dcterms:modified xsi:type="dcterms:W3CDTF">2025-01-17T15:33:10Z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60AC356AB9204BF2B919A4BB8AE7B43B</vt:lpwstr>
  </property>
  <property fmtid="{D5CDD505-2E9C-101B-9397-08002B2CF9AE}" pid="3" name="KSOProductBuildVer">
    <vt:lpwstr>1033-11.2.0.11486</vt:lpwstr>
  </property>
</Properties>
</file>